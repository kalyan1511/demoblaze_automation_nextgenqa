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0" r:id="rId3"/>
    <p:sldId id="257" r:id="rId4"/>
    <p:sldId id="258" r:id="rId5"/>
    <p:sldId id="271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72" r:id="rId14"/>
    <p:sldId id="273" r:id="rId15"/>
    <p:sldId id="266" r:id="rId16"/>
    <p:sldId id="267" r:id="rId17"/>
    <p:sldId id="269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468" autoAdjust="0"/>
  </p:normalViewPr>
  <p:slideViewPr>
    <p:cSldViewPr snapToGrid="0">
      <p:cViewPr>
        <p:scale>
          <a:sx n="125" d="100"/>
          <a:sy n="125" d="100"/>
        </p:scale>
        <p:origin x="226" y="-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3545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6858000" y="1371600"/>
            <a:ext cx="73152" cy="73152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086600" y="1645920"/>
            <a:ext cx="73152" cy="73152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1920240"/>
            <a:ext cx="73152" cy="73152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543800" y="2194560"/>
            <a:ext cx="73152" cy="73152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772400" y="2468880"/>
            <a:ext cx="73152" cy="73152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001000" y="2743200"/>
            <a:ext cx="73152" cy="73152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65760"/>
            <a:ext cx="1097280" cy="109728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2286000"/>
            <a:ext cx="822960" cy="822960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2286000"/>
            <a:ext cx="822960" cy="8229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864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DemoBlaze E-Commerce Website</a:t>
            </a:r>
            <a:endParaRPr lang="en-US" sz="2600"/>
          </a:p>
        </p:txBody>
      </p:sp>
      <p:sp>
        <p:nvSpPr>
          <p:cNvPr id="14" name="Text 9"/>
          <p:cNvSpPr/>
          <p:nvPr/>
        </p:nvSpPr>
        <p:spPr>
          <a:xfrm>
            <a:off x="548640" y="10972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 Testing</a:t>
            </a:r>
            <a:endParaRPr lang="en-US" sz="2200"/>
          </a:p>
        </p:txBody>
      </p:sp>
      <p:sp>
        <p:nvSpPr>
          <p:cNvPr id="15" name="Text 10"/>
          <p:cNvSpPr/>
          <p:nvPr/>
        </p:nvSpPr>
        <p:spPr>
          <a:xfrm>
            <a:off x="548640" y="15544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Selenium with Python</a:t>
            </a:r>
            <a:endParaRPr lang="en-US" sz="1800"/>
          </a:p>
        </p:txBody>
      </p:sp>
      <p:sp>
        <p:nvSpPr>
          <p:cNvPr id="16" name="Shape 11"/>
          <p:cNvSpPr/>
          <p:nvPr/>
        </p:nvSpPr>
        <p:spPr>
          <a:xfrm>
            <a:off x="548640" y="2057400"/>
            <a:ext cx="50292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/>
          <p:nvPr/>
        </p:nvSpPr>
        <p:spPr>
          <a:xfrm>
            <a:off x="548640" y="2267712"/>
            <a:ext cx="50292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59E0B"/>
                </a:solidFill>
              </a:rPr>
              <a:t>Team: Next Gen QA</a:t>
            </a:r>
          </a:p>
          <a:p>
            <a:r>
              <a:rPr lang="en-US" sz="1400" dirty="0">
                <a:solidFill>
                  <a:srgbClr val="00B0F0"/>
                </a:solidFill>
              </a:rPr>
              <a:t>Git Hub Link - </a:t>
            </a:r>
            <a:r>
              <a:rPr lang="en-US" sz="1100" dirty="0">
                <a:solidFill>
                  <a:srgbClr val="00B0F0"/>
                </a:solidFill>
              </a:rPr>
              <a:t>https://github.com/Kalyan1511/Demoblaze_Automation_NextgenQA.git         </a:t>
            </a:r>
          </a:p>
        </p:txBody>
      </p:sp>
      <p:sp>
        <p:nvSpPr>
          <p:cNvPr id="18" name="Text 13"/>
          <p:cNvSpPr/>
          <p:nvPr/>
        </p:nvSpPr>
        <p:spPr>
          <a:xfrm>
            <a:off x="548640" y="2843784"/>
            <a:ext cx="82296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4FC3F7"/>
                </a:solidFill>
              </a:rPr>
              <a:t>Presented By: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8640" y="3337560"/>
            <a:ext cx="8321040" cy="1490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1.Kalyan Reddy </a:t>
            </a:r>
            <a:r>
              <a:rPr lang="en-US" sz="950" dirty="0" err="1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Annepalli</a:t>
            </a: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950" dirty="0" err="1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</a:t>
            </a: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kalyanreddyannepalli46@gmail.com </a:t>
            </a:r>
          </a:p>
          <a:p>
            <a:pPr>
              <a:lnSpc>
                <a:spcPct val="130000"/>
              </a:lnSpc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Manasa </a:t>
            </a:r>
            <a:r>
              <a:rPr lang="en-US" sz="950" dirty="0" err="1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Jonnadula</a:t>
            </a: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950" dirty="0" err="1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</a:t>
            </a: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jonnadulamanasa47@gmail.com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Bhavana Bhatta – </a:t>
            </a:r>
            <a:r>
              <a:rPr lang="en-US" sz="950" dirty="0" err="1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</a:t>
            </a: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bhavanabhatta25@gmail.com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Sandeep </a:t>
            </a:r>
            <a:r>
              <a:rPr lang="en-US" sz="950" dirty="0" err="1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Yelisetty</a:t>
            </a: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950" dirty="0" err="1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</a:t>
            </a: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sandeepyelisetty111@gmail.com</a:t>
            </a:r>
            <a:endParaRPr lang="en-US" sz="950" dirty="0"/>
          </a:p>
          <a:p>
            <a:pPr>
              <a:lnSpc>
                <a:spcPct val="130000"/>
              </a:lnSpc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Kavya </a:t>
            </a:r>
            <a:r>
              <a:rPr lang="en-US" sz="950" dirty="0" err="1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Eluri</a:t>
            </a: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950" dirty="0" err="1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</a:t>
            </a: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kavyasrieluri1@gmail.com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Kalyani </a:t>
            </a:r>
            <a:r>
              <a:rPr lang="en-US" sz="950" dirty="0" err="1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Kadudula</a:t>
            </a: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950" dirty="0" err="1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</a:t>
            </a: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kalyanixyz1931@gmail.com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Dharani </a:t>
            </a:r>
            <a:r>
              <a:rPr lang="en-US" sz="950" dirty="0" err="1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Dogiparthi</a:t>
            </a: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B.Tech – dogiparthidharani@gmail.com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1" name="Text 16"/>
          <p:cNvSpPr/>
          <p:nvPr/>
        </p:nvSpPr>
        <p:spPr>
          <a:xfrm>
            <a:off x="850392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</a:rPr>
              <a:t>1</a:t>
            </a:r>
            <a:endParaRPr lang="en-US" sz="1000"/>
          </a:p>
        </p:txBody>
      </p:sp>
      <p:sp>
        <p:nvSpPr>
          <p:cNvPr id="22" name="Text 17"/>
          <p:cNvSpPr/>
          <p:nvPr/>
        </p:nvSpPr>
        <p:spPr>
          <a:xfrm>
            <a:off x="27432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C3F7"/>
                </a:solidFill>
              </a:rPr>
              <a:t>Next Gen QA @ Wipro   -  BY KAVYA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770953-D3C3-CCDD-9375-03F11F370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4853" y="0"/>
            <a:ext cx="9443803" cy="682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510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 &amp; Objectives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8046719" y="182880"/>
            <a:ext cx="1037319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4FC3F7"/>
                </a:solidFill>
              </a:rPr>
              <a:t>WIPRO 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3931920" cy="333756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Introduction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DemoBlaze Automation Testing project automates the complete e-commerce workflow of the DemoBlaze web application using Selenium WebDriver and Python.</a:t>
            </a:r>
            <a:endParaRPr lang="en-US" sz="1100"/>
          </a:p>
          <a:p>
            <a:pPr marL="0" indent="0">
              <a:lnSpc>
                <a:spcPct val="140000"/>
              </a:lnSpc>
              <a:buNone/>
            </a:pPr>
            <a:endParaRPr lang="en-US" sz="1100"/>
          </a:p>
          <a:p>
            <a:pPr marL="0" indent="0">
              <a:lnSpc>
                <a:spcPct val="140000"/>
              </a:lnSpc>
              <a:buNone/>
            </a:pPr>
            <a:r>
              <a:rPr lang="en-US" sz="110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DemoBlaze is a demo e-commerce website with features like user registration, login, product browsing, cart management, and order placement — ideal for end-to-end automation testing.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4480560" y="1234440"/>
            <a:ext cx="4389120" cy="33375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663440" y="1371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E86D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Objectives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4663440" y="1874520"/>
            <a:ext cx="320040" cy="32004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63440" y="1874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1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5074920" y="1874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332"/>
                </a:solidFill>
              </a:rPr>
              <a:t>Automate Core Functionalities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5074920" y="21214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D5A80"/>
                </a:solidFill>
              </a:rPr>
              <a:t>Cover signup, login, product browsing, cart, checkout &amp; contact forms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4663440" y="2624328"/>
            <a:ext cx="320040" cy="32004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63440" y="26243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2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5074920" y="26243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332"/>
                </a:solidFill>
              </a:rPr>
              <a:t>Reduce Manual Effort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5074920" y="28712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D5A80"/>
                </a:solidFill>
              </a:rPr>
              <a:t>Eliminate repetitive manual test execution with automated scripts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4663440" y="3374136"/>
            <a:ext cx="320040" cy="32004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663440" y="33741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3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5074920" y="337413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332"/>
                </a:solidFill>
              </a:rPr>
              <a:t>Improve Accuracy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5074920" y="36210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D5A80"/>
                </a:solidFill>
              </a:rPr>
              <a:t>Achieve consistent test results free of human error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4663440" y="4123944"/>
            <a:ext cx="320040" cy="32004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63440" y="41239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</a:rPr>
              <a:t>4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5074920" y="412394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332"/>
                </a:solidFill>
              </a:rPr>
              <a:t>Validate User Workflows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5074920" y="43708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D5A80"/>
                </a:solidFill>
              </a:rPr>
              <a:t>End-to-end testing of real user journeys on the platform</a:t>
            </a:r>
            <a:endParaRPr lang="en-US" sz="950"/>
          </a:p>
        </p:txBody>
      </p:sp>
      <p:sp>
        <p:nvSpPr>
          <p:cNvPr id="27" name="Shape 2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50392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</a:rPr>
              <a:t>3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27432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C3F7"/>
                </a:solidFill>
              </a:rPr>
              <a:t>Next Gen QA       -  BY KAVYA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 Tools &amp; Technologies Used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8046720" y="137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4FC3F7"/>
                </a:solidFill>
              </a:rPr>
              <a:t>WIPRO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1920240" cy="1508760"/>
          </a:xfrm>
          <a:prstGeom prst="rect">
            <a:avLst/>
          </a:prstGeom>
          <a:solidFill>
            <a:srgbClr val="162B4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1920240" cy="6400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9842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Selenium WebDriver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365760" y="231343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7B9BB8"/>
                </a:solidFill>
              </a:rPr>
              <a:t>Browser automation engine</a:t>
            </a:r>
            <a:endParaRPr lang="en-US" sz="850"/>
          </a:p>
        </p:txBody>
      </p:sp>
      <p:sp>
        <p:nvSpPr>
          <p:cNvPr id="10" name="Shape 8"/>
          <p:cNvSpPr/>
          <p:nvPr/>
        </p:nvSpPr>
        <p:spPr>
          <a:xfrm>
            <a:off x="2423160" y="1234440"/>
            <a:ext cx="1920240" cy="1508760"/>
          </a:xfrm>
          <a:prstGeom prst="rect">
            <a:avLst/>
          </a:prstGeom>
          <a:solidFill>
            <a:srgbClr val="162B4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423160" y="1234440"/>
            <a:ext cx="1920240" cy="6400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14600" y="19842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2514600" y="231343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7B9BB8"/>
                </a:solidFill>
              </a:rPr>
              <a:t>Primary scripting language</a:t>
            </a:r>
            <a:endParaRPr lang="en-US" sz="850"/>
          </a:p>
        </p:txBody>
      </p:sp>
      <p:sp>
        <p:nvSpPr>
          <p:cNvPr id="14" name="Shape 12"/>
          <p:cNvSpPr/>
          <p:nvPr/>
        </p:nvSpPr>
        <p:spPr>
          <a:xfrm>
            <a:off x="4572000" y="1234440"/>
            <a:ext cx="1920240" cy="1508760"/>
          </a:xfrm>
          <a:prstGeom prst="rect">
            <a:avLst/>
          </a:prstGeom>
          <a:solidFill>
            <a:srgbClr val="162B4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0" y="1234440"/>
            <a:ext cx="1920240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63440" y="19842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Code IDE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4663440" y="231343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7B9BB8"/>
                </a:solidFill>
              </a:rPr>
              <a:t>Development environment</a:t>
            </a:r>
            <a:endParaRPr lang="en-US" sz="850"/>
          </a:p>
        </p:txBody>
      </p:sp>
      <p:sp>
        <p:nvSpPr>
          <p:cNvPr id="18" name="Shape 16"/>
          <p:cNvSpPr/>
          <p:nvPr/>
        </p:nvSpPr>
        <p:spPr>
          <a:xfrm>
            <a:off x="6720840" y="1234440"/>
            <a:ext cx="1920240" cy="1508760"/>
          </a:xfrm>
          <a:prstGeom prst="rect">
            <a:avLst/>
          </a:prstGeom>
          <a:solidFill>
            <a:srgbClr val="162B4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720840" y="1234440"/>
            <a:ext cx="1920240" cy="6400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812280" y="19842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PyTest / Unittest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6812280" y="231343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7B9BB8"/>
                </a:solidFill>
              </a:rPr>
              <a:t>Test framework</a:t>
            </a:r>
            <a:endParaRPr lang="en-US" sz="850"/>
          </a:p>
        </p:txBody>
      </p:sp>
      <p:sp>
        <p:nvSpPr>
          <p:cNvPr id="22" name="Shape 20"/>
          <p:cNvSpPr/>
          <p:nvPr/>
        </p:nvSpPr>
        <p:spPr>
          <a:xfrm>
            <a:off x="274320" y="2971800"/>
            <a:ext cx="1920240" cy="1508760"/>
          </a:xfrm>
          <a:prstGeom prst="rect">
            <a:avLst/>
          </a:prstGeom>
          <a:solidFill>
            <a:srgbClr val="162B4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74320" y="2971800"/>
            <a:ext cx="1920240" cy="64008"/>
          </a:xfrm>
          <a:prstGeom prst="rect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65760" y="37216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ChromeDriver</a:t>
            </a:r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365760" y="405079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7B9BB8"/>
                </a:solidFill>
              </a:rPr>
              <a:t>Browser driver for Chrome</a:t>
            </a:r>
            <a:endParaRPr lang="en-US" sz="850"/>
          </a:p>
        </p:txBody>
      </p:sp>
      <p:sp>
        <p:nvSpPr>
          <p:cNvPr id="26" name="Shape 24"/>
          <p:cNvSpPr/>
          <p:nvPr/>
        </p:nvSpPr>
        <p:spPr>
          <a:xfrm>
            <a:off x="2423160" y="2971800"/>
            <a:ext cx="1920240" cy="1508760"/>
          </a:xfrm>
          <a:prstGeom prst="rect">
            <a:avLst/>
          </a:prstGeom>
          <a:solidFill>
            <a:srgbClr val="162B4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423160" y="2971800"/>
            <a:ext cx="1920240" cy="640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514600" y="37216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&amp; GitHub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2514600" y="405079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7B9BB8"/>
                </a:solidFill>
              </a:rPr>
              <a:t>Version control</a:t>
            </a:r>
            <a:endParaRPr lang="en-US" sz="850"/>
          </a:p>
        </p:txBody>
      </p:sp>
      <p:sp>
        <p:nvSpPr>
          <p:cNvPr id="30" name="Shape 28"/>
          <p:cNvSpPr/>
          <p:nvPr/>
        </p:nvSpPr>
        <p:spPr>
          <a:xfrm>
            <a:off x="4572000" y="2971800"/>
            <a:ext cx="1920240" cy="1508760"/>
          </a:xfrm>
          <a:prstGeom prst="rect">
            <a:avLst/>
          </a:prstGeom>
          <a:solidFill>
            <a:srgbClr val="162B4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572000" y="2971800"/>
            <a:ext cx="1920240" cy="64008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663440" y="37216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 Object Model</a:t>
            </a:r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4663440" y="405079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7B9BB8"/>
                </a:solidFill>
              </a:rPr>
              <a:t>Design pattern (POM)</a:t>
            </a:r>
            <a:endParaRPr lang="en-US" sz="850"/>
          </a:p>
        </p:txBody>
      </p:sp>
      <p:sp>
        <p:nvSpPr>
          <p:cNvPr id="34" name="Shape 32"/>
          <p:cNvSpPr/>
          <p:nvPr/>
        </p:nvSpPr>
        <p:spPr>
          <a:xfrm>
            <a:off x="6720840" y="2971800"/>
            <a:ext cx="1920240" cy="1508760"/>
          </a:xfrm>
          <a:prstGeom prst="rect">
            <a:avLst/>
          </a:prstGeom>
          <a:solidFill>
            <a:srgbClr val="162B4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720840" y="2971800"/>
            <a:ext cx="1920240" cy="6400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812280" y="37216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 Reports</a:t>
            </a:r>
            <a:endParaRPr lang="en-US" sz="1050"/>
          </a:p>
        </p:txBody>
      </p:sp>
      <p:sp>
        <p:nvSpPr>
          <p:cNvPr id="37" name="Text 35"/>
          <p:cNvSpPr/>
          <p:nvPr/>
        </p:nvSpPr>
        <p:spPr>
          <a:xfrm>
            <a:off x="6812280" y="405079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7B9BB8"/>
                </a:solidFill>
              </a:rPr>
              <a:t>Test result reporting</a:t>
            </a:r>
            <a:endParaRPr lang="en-US" sz="850"/>
          </a:p>
        </p:txBody>
      </p:sp>
      <p:sp>
        <p:nvSpPr>
          <p:cNvPr id="38" name="Shape 3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50392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</a:rPr>
              <a:t>4</a:t>
            </a:r>
            <a:endParaRPr lang="en-US" sz="1000"/>
          </a:p>
        </p:txBody>
      </p:sp>
      <p:sp>
        <p:nvSpPr>
          <p:cNvPr id="40" name="Text 38"/>
          <p:cNvSpPr/>
          <p:nvPr/>
        </p:nvSpPr>
        <p:spPr>
          <a:xfrm>
            <a:off x="27432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C3F7"/>
                </a:solidFill>
              </a:rPr>
              <a:t>Next Gen QA      - BY KALYAN</a:t>
            </a:r>
            <a:endParaRPr lang="en-US" sz="1000" dirty="0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417320"/>
            <a:ext cx="502920" cy="502920"/>
          </a:xfrm>
          <a:prstGeom prst="rect">
            <a:avLst/>
          </a:prstGeom>
        </p:spPr>
      </p:pic>
      <p:pic>
        <p:nvPicPr>
          <p:cNvPr id="4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392" y="1417320"/>
            <a:ext cx="502920" cy="502920"/>
          </a:xfrm>
          <a:prstGeom prst="rect">
            <a:avLst/>
          </a:prstGeom>
        </p:spPr>
      </p:pic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1417320"/>
            <a:ext cx="502920" cy="502920"/>
          </a:xfrm>
          <a:prstGeom prst="rect">
            <a:avLst/>
          </a:prstGeom>
        </p:spPr>
      </p:pic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072" y="1417320"/>
            <a:ext cx="502920" cy="502920"/>
          </a:xfrm>
          <a:prstGeom prst="rect">
            <a:avLst/>
          </a:prstGeom>
        </p:spPr>
      </p:pic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6392" y="3154680"/>
            <a:ext cx="502920" cy="502920"/>
          </a:xfrm>
          <a:prstGeom prst="rect">
            <a:avLst/>
          </a:prstGeom>
        </p:spPr>
      </p:pic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5232" y="3154680"/>
            <a:ext cx="502920" cy="502920"/>
          </a:xfrm>
          <a:prstGeom prst="rect">
            <a:avLst/>
          </a:prstGeom>
        </p:spPr>
      </p:pic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7552" y="3154680"/>
            <a:ext cx="502920" cy="502920"/>
          </a:xfrm>
          <a:prstGeom prst="rect">
            <a:avLst/>
          </a:prstGeom>
        </p:spPr>
      </p:pic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34072" y="315468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F185DD-C6D9-ECBC-9C87-B85BE9E81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3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434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554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Signup Feature Automation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8046720" y="1554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4FC3F7"/>
                </a:solidFill>
              </a:rPr>
              <a:t>WIPRO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206240" cy="7498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2057400"/>
            <a:ext cx="4206240" cy="7498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2926080"/>
            <a:ext cx="4206240" cy="7498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3794760"/>
            <a:ext cx="4206240" cy="7498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114800" cy="3383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3776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E86DE"/>
                </a:solidFill>
              </a:rPr>
              <a:t>Signup Workflow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5120640" y="1783080"/>
            <a:ext cx="347472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120640" y="1783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Open DemoBlaze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54864" cy="73152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120640" y="2176272"/>
            <a:ext cx="3474720" cy="32004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120640" y="21762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Click Sign Up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6675120" y="2496312"/>
            <a:ext cx="54864" cy="73152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120640" y="2569464"/>
            <a:ext cx="347472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120640" y="25694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Enter Username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6675120" y="2889504"/>
            <a:ext cx="54864" cy="73152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120640" y="2962656"/>
            <a:ext cx="3474720" cy="32004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120640" y="29626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Enter Password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6675120" y="3282696"/>
            <a:ext cx="54864" cy="73152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120640" y="3355848"/>
            <a:ext cx="347472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120640" y="3355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Click Register</a:t>
            </a:r>
            <a:endParaRPr lang="en-US" sz="1000"/>
          </a:p>
        </p:txBody>
      </p:sp>
      <p:sp>
        <p:nvSpPr>
          <p:cNvPr id="26" name="Shape 24"/>
          <p:cNvSpPr/>
          <p:nvPr/>
        </p:nvSpPr>
        <p:spPr>
          <a:xfrm>
            <a:off x="6675120" y="3675888"/>
            <a:ext cx="54864" cy="73152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120640" y="3749040"/>
            <a:ext cx="3474720" cy="32004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120640" y="3749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Handle Alert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6675120" y="4069080"/>
            <a:ext cx="54864" cy="73152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120640" y="4142232"/>
            <a:ext cx="347472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120640" y="41422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Verify Success</a:t>
            </a:r>
            <a:endParaRPr lang="en-US" sz="1000"/>
          </a:p>
        </p:txBody>
      </p:sp>
      <p:sp>
        <p:nvSpPr>
          <p:cNvPr id="32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50392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</a:rPr>
              <a:t>6</a:t>
            </a:r>
            <a:endParaRPr lang="en-US" sz="1000"/>
          </a:p>
        </p:txBody>
      </p:sp>
      <p:sp>
        <p:nvSpPr>
          <p:cNvPr id="34" name="Text 32"/>
          <p:cNvSpPr/>
          <p:nvPr/>
        </p:nvSpPr>
        <p:spPr>
          <a:xfrm>
            <a:off x="27432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C3F7"/>
                </a:solidFill>
              </a:rPr>
              <a:t>Next Gen QA   - BY MANASA</a:t>
            </a:r>
            <a:endParaRPr lang="en-US" sz="1000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53312"/>
            <a:ext cx="411480" cy="41148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005840" y="128016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A2332"/>
                </a:solidFill>
              </a:rPr>
              <a:t>Dynamic User Creation</a:t>
            </a:r>
            <a:endParaRPr lang="en-US" sz="1150"/>
          </a:p>
        </p:txBody>
      </p:sp>
      <p:sp>
        <p:nvSpPr>
          <p:cNvPr id="37" name="Text 34"/>
          <p:cNvSpPr/>
          <p:nvPr/>
        </p:nvSpPr>
        <p:spPr>
          <a:xfrm>
            <a:off x="1005840" y="153619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D5A80"/>
                </a:solidFill>
              </a:rPr>
              <a:t>Automatically generates new user accounts with unique credentials for each test run</a:t>
            </a:r>
            <a:endParaRPr lang="en-US" sz="900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90672"/>
            <a:ext cx="411480" cy="41148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1005840" y="301752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A2332"/>
                </a:solidFill>
              </a:rPr>
              <a:t>Alert Handling Validation</a:t>
            </a:r>
            <a:endParaRPr lang="en-US" sz="1150"/>
          </a:p>
        </p:txBody>
      </p:sp>
      <p:sp>
        <p:nvSpPr>
          <p:cNvPr id="40" name="Text 36"/>
          <p:cNvSpPr/>
          <p:nvPr/>
        </p:nvSpPr>
        <p:spPr>
          <a:xfrm>
            <a:off x="1005840" y="327355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D5A80"/>
                </a:solidFill>
              </a:rPr>
              <a:t>Captures and verifies browser alert messages after signup actions</a:t>
            </a:r>
            <a:endParaRPr lang="en-US" sz="900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221992"/>
            <a:ext cx="411480" cy="41148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1005840" y="214884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A2332"/>
                </a:solidFill>
              </a:rPr>
              <a:t>Random Username Generation</a:t>
            </a:r>
            <a:endParaRPr lang="en-US" sz="1150"/>
          </a:p>
        </p:txBody>
      </p:sp>
      <p:sp>
        <p:nvSpPr>
          <p:cNvPr id="43" name="Text 38"/>
          <p:cNvSpPr/>
          <p:nvPr/>
        </p:nvSpPr>
        <p:spPr>
          <a:xfrm>
            <a:off x="1005840" y="24048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D5A80"/>
                </a:solidFill>
              </a:rPr>
              <a:t>Creates unique usernames using timestamp or random string to avoid conflicts</a:t>
            </a:r>
            <a:endParaRPr lang="en-US" sz="900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959352"/>
            <a:ext cx="411480" cy="411480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1005840" y="388620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A2332"/>
                </a:solidFill>
              </a:rPr>
              <a:t>Successful Signup Verification</a:t>
            </a:r>
            <a:endParaRPr lang="en-US" sz="1150"/>
          </a:p>
        </p:txBody>
      </p:sp>
      <p:sp>
        <p:nvSpPr>
          <p:cNvPr id="46" name="Text 40"/>
          <p:cNvSpPr/>
          <p:nvPr/>
        </p:nvSpPr>
        <p:spPr>
          <a:xfrm>
            <a:off x="1005840" y="414223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D5A80"/>
                </a:solidFill>
              </a:rPr>
              <a:t>Validates that user registration completes successfully with confirmation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554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 Feature / Logout Feature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8046720" y="1554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4FC3F7"/>
                </a:solidFill>
              </a:rPr>
              <a:t>WIPRO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14800" cy="3337560"/>
          </a:xfrm>
          <a:prstGeom prst="rect">
            <a:avLst/>
          </a:prstGeom>
          <a:solidFill>
            <a:srgbClr val="162B4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114800" cy="45720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🔐  LOGIN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502920" y="1874520"/>
            <a:ext cx="228600" cy="228600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1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841248" y="18288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</a:rPr>
              <a:t>Session Login Flow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841248" y="20848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B9BB8"/>
                </a:solidFill>
              </a:rPr>
              <a:t>Simulates user login within an active browser session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502920" y="2651760"/>
            <a:ext cx="228600" cy="228600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26517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2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841248" y="26060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</a:rPr>
              <a:t>Credential Verification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841248" y="28620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B9BB8"/>
                </a:solidFill>
              </a:rPr>
              <a:t>Tests valid and invalid credential combinations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502920" y="3429000"/>
            <a:ext cx="228600" cy="228600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2920" y="34290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3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841248" y="33832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</a:rPr>
              <a:t>Login Confirmation</a:t>
            </a:r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841248" y="363931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B9BB8"/>
                </a:solidFill>
              </a:rPr>
              <a:t>Verifies username shown in navigation post-login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502920" y="4206240"/>
            <a:ext cx="228600" cy="228600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2920" y="42062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4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841248" y="41605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</a:rPr>
              <a:t>Session Handling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841248" y="44165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B9BB8"/>
                </a:solidFill>
              </a:rPr>
              <a:t>Ensures session persists across page navigations</a:t>
            </a:r>
            <a:endParaRPr lang="en-US" sz="900"/>
          </a:p>
        </p:txBody>
      </p:sp>
      <p:sp>
        <p:nvSpPr>
          <p:cNvPr id="25" name="Shape 23"/>
          <p:cNvSpPr/>
          <p:nvPr/>
        </p:nvSpPr>
        <p:spPr>
          <a:xfrm>
            <a:off x="4754880" y="1188720"/>
            <a:ext cx="4114800" cy="3337560"/>
          </a:xfrm>
          <a:prstGeom prst="rect">
            <a:avLst/>
          </a:prstGeom>
          <a:solidFill>
            <a:srgbClr val="162B4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54880" y="1188720"/>
            <a:ext cx="411480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937760" y="1188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🚪  LOGOUT</a:t>
            </a:r>
            <a:endParaRPr lang="en-US" sz="1400"/>
          </a:p>
        </p:txBody>
      </p:sp>
      <p:sp>
        <p:nvSpPr>
          <p:cNvPr id="28" name="Shape 26"/>
          <p:cNvSpPr/>
          <p:nvPr/>
        </p:nvSpPr>
        <p:spPr>
          <a:xfrm>
            <a:off x="4983480" y="187452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983480" y="18745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1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5321808" y="18288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</a:rPr>
              <a:t>Logout Validation</a:t>
            </a:r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5321808" y="20848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B9BB8"/>
                </a:solidFill>
              </a:rPr>
              <a:t>Verifies user can successfully log out from the application</a:t>
            </a:r>
            <a:endParaRPr lang="en-US" sz="900"/>
          </a:p>
        </p:txBody>
      </p:sp>
      <p:sp>
        <p:nvSpPr>
          <p:cNvPr id="32" name="Shape 30"/>
          <p:cNvSpPr/>
          <p:nvPr/>
        </p:nvSpPr>
        <p:spPr>
          <a:xfrm>
            <a:off x="4983480" y="265176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983480" y="26517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2</a:t>
            </a:r>
            <a:endParaRPr lang="en-US" sz="900"/>
          </a:p>
        </p:txBody>
      </p:sp>
      <p:sp>
        <p:nvSpPr>
          <p:cNvPr id="34" name="Text 32"/>
          <p:cNvSpPr/>
          <p:nvPr/>
        </p:nvSpPr>
        <p:spPr>
          <a:xfrm>
            <a:off x="5321808" y="26060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</a:rPr>
              <a:t>Session Termination</a:t>
            </a:r>
            <a:endParaRPr lang="en-US" sz="1050"/>
          </a:p>
        </p:txBody>
      </p:sp>
      <p:sp>
        <p:nvSpPr>
          <p:cNvPr id="35" name="Text 33"/>
          <p:cNvSpPr/>
          <p:nvPr/>
        </p:nvSpPr>
        <p:spPr>
          <a:xfrm>
            <a:off x="5321808" y="28620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B9BB8"/>
                </a:solidFill>
              </a:rPr>
              <a:t>Confirms session data is cleared after logout</a:t>
            </a:r>
            <a:endParaRPr lang="en-US" sz="900"/>
          </a:p>
        </p:txBody>
      </p:sp>
      <p:sp>
        <p:nvSpPr>
          <p:cNvPr id="36" name="Shape 34"/>
          <p:cNvSpPr/>
          <p:nvPr/>
        </p:nvSpPr>
        <p:spPr>
          <a:xfrm>
            <a:off x="4983480" y="342900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983480" y="34290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3</a:t>
            </a:r>
            <a:endParaRPr lang="en-US" sz="900"/>
          </a:p>
        </p:txBody>
      </p:sp>
      <p:sp>
        <p:nvSpPr>
          <p:cNvPr id="38" name="Text 36"/>
          <p:cNvSpPr/>
          <p:nvPr/>
        </p:nvSpPr>
        <p:spPr>
          <a:xfrm>
            <a:off x="5321808" y="33832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</a:rPr>
              <a:t>UI State Verification</a:t>
            </a:r>
            <a:endParaRPr lang="en-US" sz="1050"/>
          </a:p>
        </p:txBody>
      </p:sp>
      <p:sp>
        <p:nvSpPr>
          <p:cNvPr id="39" name="Text 37"/>
          <p:cNvSpPr/>
          <p:nvPr/>
        </p:nvSpPr>
        <p:spPr>
          <a:xfrm>
            <a:off x="5321808" y="363931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B9BB8"/>
                </a:solidFill>
              </a:rPr>
              <a:t>Checks navigation reverts to guest state post-logout</a:t>
            </a:r>
            <a:endParaRPr lang="en-US" sz="900"/>
          </a:p>
        </p:txBody>
      </p:sp>
      <p:sp>
        <p:nvSpPr>
          <p:cNvPr id="40" name="Shape 38"/>
          <p:cNvSpPr/>
          <p:nvPr/>
        </p:nvSpPr>
        <p:spPr>
          <a:xfrm>
            <a:off x="4983480" y="420624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983480" y="42062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4</a:t>
            </a:r>
            <a:endParaRPr lang="en-US" sz="900"/>
          </a:p>
        </p:txBody>
      </p:sp>
      <p:sp>
        <p:nvSpPr>
          <p:cNvPr id="42" name="Text 40"/>
          <p:cNvSpPr/>
          <p:nvPr/>
        </p:nvSpPr>
        <p:spPr>
          <a:xfrm>
            <a:off x="5321808" y="41605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</a:rPr>
              <a:t>Re-login Testing</a:t>
            </a:r>
            <a:endParaRPr lang="en-US" sz="1050"/>
          </a:p>
        </p:txBody>
      </p:sp>
      <p:sp>
        <p:nvSpPr>
          <p:cNvPr id="43" name="Text 41"/>
          <p:cNvSpPr/>
          <p:nvPr/>
        </p:nvSpPr>
        <p:spPr>
          <a:xfrm>
            <a:off x="5321808" y="44165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B9BB8"/>
                </a:solidFill>
              </a:rPr>
              <a:t>Validates user can log back in after logout successfully</a:t>
            </a:r>
            <a:endParaRPr lang="en-US" sz="900"/>
          </a:p>
        </p:txBody>
      </p:sp>
      <p:sp>
        <p:nvSpPr>
          <p:cNvPr id="44" name="Shape 4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50392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</a:rPr>
              <a:t>7</a:t>
            </a:r>
            <a:endParaRPr lang="en-US" sz="1000"/>
          </a:p>
        </p:txBody>
      </p:sp>
      <p:sp>
        <p:nvSpPr>
          <p:cNvPr id="46" name="Text 44"/>
          <p:cNvSpPr/>
          <p:nvPr/>
        </p:nvSpPr>
        <p:spPr>
          <a:xfrm>
            <a:off x="27432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C3F7"/>
                </a:solidFill>
              </a:rPr>
              <a:t>Next Gen QA    - BY MANASA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554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 Page Functionality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8046720" y="1554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4FC3F7"/>
                </a:solidFill>
              </a:rPr>
              <a:t>WIPRO</a:t>
            </a:r>
            <a:endParaRPr lang="en-US" sz="9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097280"/>
            <a:ext cx="1097280" cy="1097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280160"/>
            <a:ext cx="4023360" cy="1508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74320" y="1280160"/>
            <a:ext cx="73152" cy="150876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02920" y="1463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Homepage Exploration</a:t>
            </a:r>
            <a:endParaRPr lang="en-US" sz="1300"/>
          </a:p>
        </p:txBody>
      </p:sp>
      <p:sp>
        <p:nvSpPr>
          <p:cNvPr id="10" name="Text 7"/>
          <p:cNvSpPr/>
          <p:nvPr/>
        </p:nvSpPr>
        <p:spPr>
          <a:xfrm>
            <a:off x="502920" y="184708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3D5A80"/>
                </a:solidFill>
              </a:rPr>
              <a:t>Automated navigation and rendering verification of the DemoBlaze homepage on load</a:t>
            </a:r>
            <a:endParaRPr lang="en-US" sz="1000"/>
          </a:p>
        </p:txBody>
      </p:sp>
      <p:sp>
        <p:nvSpPr>
          <p:cNvPr id="11" name="Shape 8"/>
          <p:cNvSpPr/>
          <p:nvPr/>
        </p:nvSpPr>
        <p:spPr>
          <a:xfrm>
            <a:off x="4617720" y="1280160"/>
            <a:ext cx="4023360" cy="1508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617720" y="1280160"/>
            <a:ext cx="73152" cy="1508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846320" y="1463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Navigation Testing</a:t>
            </a:r>
            <a:endParaRPr lang="en-US" sz="1300"/>
          </a:p>
        </p:txBody>
      </p:sp>
      <p:sp>
        <p:nvSpPr>
          <p:cNvPr id="14" name="Text 11"/>
          <p:cNvSpPr/>
          <p:nvPr/>
        </p:nvSpPr>
        <p:spPr>
          <a:xfrm>
            <a:off x="4846320" y="184708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3D5A80"/>
                </a:solidFill>
              </a:rPr>
              <a:t>Validates all navigation links, category menus, and header/footer elements work correctly</a:t>
            </a:r>
            <a:endParaRPr lang="en-US" sz="1000"/>
          </a:p>
        </p:txBody>
      </p:sp>
      <p:sp>
        <p:nvSpPr>
          <p:cNvPr id="15" name="Shape 12"/>
          <p:cNvSpPr/>
          <p:nvPr/>
        </p:nvSpPr>
        <p:spPr>
          <a:xfrm>
            <a:off x="274320" y="2971800"/>
            <a:ext cx="4023360" cy="1508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274320" y="2971800"/>
            <a:ext cx="73152" cy="1508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3154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Scrolling Functionality</a:t>
            </a:r>
            <a:endParaRPr lang="en-US" sz="1300"/>
          </a:p>
        </p:txBody>
      </p:sp>
      <p:sp>
        <p:nvSpPr>
          <p:cNvPr id="18" name="Text 15"/>
          <p:cNvSpPr/>
          <p:nvPr/>
        </p:nvSpPr>
        <p:spPr>
          <a:xfrm>
            <a:off x="502920" y="353872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3D5A80"/>
                </a:solidFill>
              </a:rPr>
              <a:t>Tests page scroll behavior including carousel navigation and lazy-loaded product images</a:t>
            </a:r>
            <a:endParaRPr lang="en-US" sz="1000"/>
          </a:p>
        </p:txBody>
      </p:sp>
      <p:sp>
        <p:nvSpPr>
          <p:cNvPr id="19" name="Shape 16"/>
          <p:cNvSpPr/>
          <p:nvPr/>
        </p:nvSpPr>
        <p:spPr>
          <a:xfrm>
            <a:off x="4617720" y="2971800"/>
            <a:ext cx="4023360" cy="1508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4617720" y="2971800"/>
            <a:ext cx="73152" cy="150876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846320" y="3154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 Element Verification</a:t>
            </a:r>
            <a:endParaRPr lang="en-US" sz="1300"/>
          </a:p>
        </p:txBody>
      </p:sp>
      <p:sp>
        <p:nvSpPr>
          <p:cNvPr id="22" name="Text 19"/>
          <p:cNvSpPr/>
          <p:nvPr/>
        </p:nvSpPr>
        <p:spPr>
          <a:xfrm>
            <a:off x="4846320" y="353872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>
                <a:solidFill>
                  <a:srgbClr val="3D5A80"/>
                </a:solidFill>
              </a:rPr>
              <a:t>Verifies all key UI elements (logo, nav, buttons, carousel) are visible and functional</a:t>
            </a:r>
            <a:endParaRPr lang="en-US" sz="1000"/>
          </a:p>
        </p:txBody>
      </p:sp>
      <p:sp>
        <p:nvSpPr>
          <p:cNvPr id="23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850392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</a:rPr>
              <a:t>8</a:t>
            </a:r>
            <a:endParaRPr lang="en-US" sz="1000"/>
          </a:p>
        </p:txBody>
      </p:sp>
      <p:sp>
        <p:nvSpPr>
          <p:cNvPr id="25" name="Text 22"/>
          <p:cNvSpPr/>
          <p:nvPr/>
        </p:nvSpPr>
        <p:spPr>
          <a:xfrm>
            <a:off x="27432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C3F7"/>
                </a:solidFill>
              </a:rPr>
              <a:t>Next Gen QA   - BY SANDEEP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554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Products Functionality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8046720" y="1554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4FC3F7"/>
                </a:solidFill>
              </a:rPr>
              <a:t>WIPRO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697480" cy="3337560"/>
          </a:xfrm>
          <a:prstGeom prst="rect">
            <a:avLst/>
          </a:prstGeom>
          <a:solidFill>
            <a:srgbClr val="162B4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2697480" cy="50292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1887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Mobiles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457200" y="1847088"/>
            <a:ext cx="2331720" cy="530352"/>
          </a:xfrm>
          <a:prstGeom prst="rect">
            <a:avLst/>
          </a:prstGeom>
          <a:solidFill>
            <a:srgbClr val="0D22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54864" cy="530352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4360" y="1847088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C8D8E8"/>
                </a:solidFill>
              </a:rPr>
              <a:t>Browse mobile category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457200" y="2505456"/>
            <a:ext cx="2331720" cy="530352"/>
          </a:xfrm>
          <a:prstGeom prst="rect">
            <a:avLst/>
          </a:prstGeom>
          <a:solidFill>
            <a:srgbClr val="0D22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7200" y="2505456"/>
            <a:ext cx="54864" cy="530352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2505456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C8D8E8"/>
                </a:solidFill>
              </a:rPr>
              <a:t>Validate product listing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457200" y="3163824"/>
            <a:ext cx="2331720" cy="530352"/>
          </a:xfrm>
          <a:prstGeom prst="rect">
            <a:avLst/>
          </a:prstGeom>
          <a:solidFill>
            <a:srgbClr val="0D22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57200" y="3163824"/>
            <a:ext cx="54864" cy="530352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94360" y="3163824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C8D8E8"/>
                </a:solidFill>
              </a:rPr>
              <a:t>Product detail page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457200" y="3822192"/>
            <a:ext cx="2331720" cy="530352"/>
          </a:xfrm>
          <a:prstGeom prst="rect">
            <a:avLst/>
          </a:prstGeom>
          <a:solidFill>
            <a:srgbClr val="0D22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7200" y="3822192"/>
            <a:ext cx="54864" cy="530352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94360" y="3822192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C8D8E8"/>
                </a:solidFill>
              </a:rPr>
              <a:t>Click &amp; navigate products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3200400" y="1188720"/>
            <a:ext cx="2697480" cy="3337560"/>
          </a:xfrm>
          <a:prstGeom prst="rect">
            <a:avLst/>
          </a:prstGeom>
          <a:solidFill>
            <a:srgbClr val="162B4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00400" y="1188720"/>
            <a:ext cx="2697480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00400" y="11887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Laptops</a:t>
            </a:r>
            <a:endParaRPr lang="en-US" sz="1600"/>
          </a:p>
        </p:txBody>
      </p:sp>
      <p:sp>
        <p:nvSpPr>
          <p:cNvPr id="24" name="Shape 22"/>
          <p:cNvSpPr/>
          <p:nvPr/>
        </p:nvSpPr>
        <p:spPr>
          <a:xfrm>
            <a:off x="3383280" y="1847088"/>
            <a:ext cx="2331720" cy="530352"/>
          </a:xfrm>
          <a:prstGeom prst="rect">
            <a:avLst/>
          </a:prstGeom>
          <a:solidFill>
            <a:srgbClr val="0D22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383280" y="1847088"/>
            <a:ext cx="54864" cy="5303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520440" y="1847088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C8D8E8"/>
                </a:solidFill>
              </a:rPr>
              <a:t>Browse laptop category</a:t>
            </a:r>
            <a:endParaRPr lang="en-US" sz="950"/>
          </a:p>
        </p:txBody>
      </p:sp>
      <p:sp>
        <p:nvSpPr>
          <p:cNvPr id="27" name="Shape 25"/>
          <p:cNvSpPr/>
          <p:nvPr/>
        </p:nvSpPr>
        <p:spPr>
          <a:xfrm>
            <a:off x="3383280" y="2505456"/>
            <a:ext cx="2331720" cy="530352"/>
          </a:xfrm>
          <a:prstGeom prst="rect">
            <a:avLst/>
          </a:prstGeom>
          <a:solidFill>
            <a:srgbClr val="0D22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383280" y="2505456"/>
            <a:ext cx="54864" cy="5303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520440" y="2505456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C8D8E8"/>
                </a:solidFill>
              </a:rPr>
              <a:t>Validate product cards</a:t>
            </a:r>
            <a:endParaRPr lang="en-US" sz="950"/>
          </a:p>
        </p:txBody>
      </p:sp>
      <p:sp>
        <p:nvSpPr>
          <p:cNvPr id="30" name="Shape 28"/>
          <p:cNvSpPr/>
          <p:nvPr/>
        </p:nvSpPr>
        <p:spPr>
          <a:xfrm>
            <a:off x="3383280" y="3163824"/>
            <a:ext cx="2331720" cy="530352"/>
          </a:xfrm>
          <a:prstGeom prst="rect">
            <a:avLst/>
          </a:prstGeom>
          <a:solidFill>
            <a:srgbClr val="0D22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383280" y="3163824"/>
            <a:ext cx="54864" cy="5303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520440" y="3163824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C8D8E8"/>
                </a:solidFill>
              </a:rPr>
              <a:t>Laptop product details</a:t>
            </a:r>
            <a:endParaRPr lang="en-US" sz="950"/>
          </a:p>
        </p:txBody>
      </p:sp>
      <p:sp>
        <p:nvSpPr>
          <p:cNvPr id="33" name="Shape 31"/>
          <p:cNvSpPr/>
          <p:nvPr/>
        </p:nvSpPr>
        <p:spPr>
          <a:xfrm>
            <a:off x="3383280" y="3822192"/>
            <a:ext cx="2331720" cy="530352"/>
          </a:xfrm>
          <a:prstGeom prst="rect">
            <a:avLst/>
          </a:prstGeom>
          <a:solidFill>
            <a:srgbClr val="0D22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383280" y="3822192"/>
            <a:ext cx="54864" cy="5303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520440" y="3822192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C8D8E8"/>
                </a:solidFill>
              </a:rPr>
              <a:t>Price &amp; specs verification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6126480" y="1188720"/>
            <a:ext cx="2697480" cy="3337560"/>
          </a:xfrm>
          <a:prstGeom prst="rect">
            <a:avLst/>
          </a:prstGeom>
          <a:solidFill>
            <a:srgbClr val="162B4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126480" y="1188720"/>
            <a:ext cx="2697480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126480" y="11887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Monitors</a:t>
            </a:r>
            <a:endParaRPr lang="en-US" sz="1600"/>
          </a:p>
        </p:txBody>
      </p:sp>
      <p:sp>
        <p:nvSpPr>
          <p:cNvPr id="39" name="Shape 37"/>
          <p:cNvSpPr/>
          <p:nvPr/>
        </p:nvSpPr>
        <p:spPr>
          <a:xfrm>
            <a:off x="6309360" y="1847088"/>
            <a:ext cx="2331720" cy="530352"/>
          </a:xfrm>
          <a:prstGeom prst="rect">
            <a:avLst/>
          </a:prstGeom>
          <a:solidFill>
            <a:srgbClr val="0D22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309360" y="1847088"/>
            <a:ext cx="54864" cy="5303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446520" y="1847088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C8D8E8"/>
                </a:solidFill>
              </a:rPr>
              <a:t>Browse monitors section</a:t>
            </a:r>
            <a:endParaRPr lang="en-US" sz="950"/>
          </a:p>
        </p:txBody>
      </p:sp>
      <p:sp>
        <p:nvSpPr>
          <p:cNvPr id="42" name="Shape 40"/>
          <p:cNvSpPr/>
          <p:nvPr/>
        </p:nvSpPr>
        <p:spPr>
          <a:xfrm>
            <a:off x="6309360" y="2505456"/>
            <a:ext cx="2331720" cy="530352"/>
          </a:xfrm>
          <a:prstGeom prst="rect">
            <a:avLst/>
          </a:prstGeom>
          <a:solidFill>
            <a:srgbClr val="0D22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309360" y="2505456"/>
            <a:ext cx="54864" cy="5303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446520" y="2505456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C8D8E8"/>
                </a:solidFill>
              </a:rPr>
              <a:t>Validate monitor listing</a:t>
            </a:r>
            <a:endParaRPr lang="en-US" sz="950"/>
          </a:p>
        </p:txBody>
      </p:sp>
      <p:sp>
        <p:nvSpPr>
          <p:cNvPr id="45" name="Shape 43"/>
          <p:cNvSpPr/>
          <p:nvPr/>
        </p:nvSpPr>
        <p:spPr>
          <a:xfrm>
            <a:off x="6309360" y="3163824"/>
            <a:ext cx="2331720" cy="530352"/>
          </a:xfrm>
          <a:prstGeom prst="rect">
            <a:avLst/>
          </a:prstGeom>
          <a:solidFill>
            <a:srgbClr val="0D22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6309360" y="3163824"/>
            <a:ext cx="54864" cy="5303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446520" y="3163824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C8D8E8"/>
                </a:solidFill>
              </a:rPr>
              <a:t>Monitor product page</a:t>
            </a:r>
            <a:endParaRPr lang="en-US" sz="950"/>
          </a:p>
        </p:txBody>
      </p:sp>
      <p:sp>
        <p:nvSpPr>
          <p:cNvPr id="48" name="Shape 46"/>
          <p:cNvSpPr/>
          <p:nvPr/>
        </p:nvSpPr>
        <p:spPr>
          <a:xfrm>
            <a:off x="6309360" y="3822192"/>
            <a:ext cx="2331720" cy="530352"/>
          </a:xfrm>
          <a:prstGeom prst="rect">
            <a:avLst/>
          </a:prstGeom>
          <a:solidFill>
            <a:srgbClr val="0D22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6309360" y="3822192"/>
            <a:ext cx="54864" cy="5303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446520" y="3822192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C8D8E8"/>
                </a:solidFill>
              </a:rPr>
              <a:t>Navigation testing</a:t>
            </a:r>
            <a:endParaRPr lang="en-US" sz="950"/>
          </a:p>
        </p:txBody>
      </p:sp>
      <p:sp>
        <p:nvSpPr>
          <p:cNvPr id="51" name="Text 49"/>
          <p:cNvSpPr/>
          <p:nvPr/>
        </p:nvSpPr>
        <p:spPr>
          <a:xfrm>
            <a:off x="274320" y="45720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59E0B"/>
                </a:solidFill>
              </a:rPr>
              <a:t>Product Navigation Flow:</a:t>
            </a:r>
            <a:endParaRPr lang="en-US" sz="900"/>
          </a:p>
        </p:txBody>
      </p:sp>
      <p:sp>
        <p:nvSpPr>
          <p:cNvPr id="52" name="Text 50"/>
          <p:cNvSpPr/>
          <p:nvPr/>
        </p:nvSpPr>
        <p:spPr>
          <a:xfrm>
            <a:off x="274320" y="46207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C3F7"/>
                </a:solidFill>
              </a:rPr>
              <a:t>All Products  →  Category  →  Product Page  →  Add to Cart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850392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</a:rPr>
              <a:t>9</a:t>
            </a:r>
            <a:endParaRPr lang="en-US" sz="1000"/>
          </a:p>
        </p:txBody>
      </p:sp>
      <p:sp>
        <p:nvSpPr>
          <p:cNvPr id="55" name="Text 53"/>
          <p:cNvSpPr/>
          <p:nvPr/>
        </p:nvSpPr>
        <p:spPr>
          <a:xfrm>
            <a:off x="274320" y="4849368"/>
            <a:ext cx="2743200" cy="252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C3F7"/>
                </a:solidFill>
              </a:rPr>
              <a:t>Next Gen QA      - BY SANDEEP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5544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 Functionality Automation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8046720" y="1554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4FC3F7"/>
                </a:solidFill>
              </a:rPr>
              <a:t>WIPRO</a:t>
            </a:r>
            <a:endParaRPr lang="en-US" sz="9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051560"/>
            <a:ext cx="1005840" cy="1005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188720"/>
            <a:ext cx="402336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11480" y="1389888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11480" y="13898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1</a:t>
            </a:r>
            <a:endParaRPr lang="en-US" sz="1000"/>
          </a:p>
        </p:txBody>
      </p:sp>
      <p:sp>
        <p:nvSpPr>
          <p:cNvPr id="10" name="Text 7"/>
          <p:cNvSpPr/>
          <p:nvPr/>
        </p:nvSpPr>
        <p:spPr>
          <a:xfrm>
            <a:off x="822960" y="1280160"/>
            <a:ext cx="3337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332"/>
                </a:solidFill>
              </a:rPr>
              <a:t>Add Product to Cart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822960" y="153619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D5A80"/>
                </a:solidFill>
              </a:rPr>
              <a:t>Automates product selection and add-to-cart button click</a:t>
            </a:r>
            <a:endParaRPr lang="en-US" sz="900"/>
          </a:p>
        </p:txBody>
      </p:sp>
      <p:sp>
        <p:nvSpPr>
          <p:cNvPr id="12" name="Shape 9"/>
          <p:cNvSpPr/>
          <p:nvPr/>
        </p:nvSpPr>
        <p:spPr>
          <a:xfrm>
            <a:off x="274320" y="2011680"/>
            <a:ext cx="402336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11480" y="2212848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11480" y="2212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2</a:t>
            </a:r>
            <a:endParaRPr lang="en-US" sz="1000"/>
          </a:p>
        </p:txBody>
      </p:sp>
      <p:sp>
        <p:nvSpPr>
          <p:cNvPr id="15" name="Text 12"/>
          <p:cNvSpPr/>
          <p:nvPr/>
        </p:nvSpPr>
        <p:spPr>
          <a:xfrm>
            <a:off x="822960" y="2103120"/>
            <a:ext cx="3337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332"/>
                </a:solidFill>
              </a:rPr>
              <a:t>Cart Validation</a:t>
            </a:r>
            <a:endParaRPr lang="en-US" sz="1100"/>
          </a:p>
        </p:txBody>
      </p:sp>
      <p:sp>
        <p:nvSpPr>
          <p:cNvPr id="16" name="Text 13"/>
          <p:cNvSpPr/>
          <p:nvPr/>
        </p:nvSpPr>
        <p:spPr>
          <a:xfrm>
            <a:off x="822960" y="235915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D5A80"/>
                </a:solidFill>
              </a:rPr>
              <a:t>Verifies cart page loads correctly with expected product count</a:t>
            </a:r>
            <a:endParaRPr lang="en-US" sz="900"/>
          </a:p>
        </p:txBody>
      </p:sp>
      <p:sp>
        <p:nvSpPr>
          <p:cNvPr id="17" name="Shape 14"/>
          <p:cNvSpPr/>
          <p:nvPr/>
        </p:nvSpPr>
        <p:spPr>
          <a:xfrm>
            <a:off x="274320" y="2834640"/>
            <a:ext cx="402336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411480" y="3035808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411480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3</a:t>
            </a:r>
            <a:endParaRPr lang="en-US" sz="1000"/>
          </a:p>
        </p:txBody>
      </p:sp>
      <p:sp>
        <p:nvSpPr>
          <p:cNvPr id="20" name="Text 17"/>
          <p:cNvSpPr/>
          <p:nvPr/>
        </p:nvSpPr>
        <p:spPr>
          <a:xfrm>
            <a:off x="822960" y="2926080"/>
            <a:ext cx="3337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332"/>
                </a:solidFill>
              </a:rPr>
              <a:t>Product Verification</a:t>
            </a:r>
            <a:endParaRPr lang="en-US" sz="1100"/>
          </a:p>
        </p:txBody>
      </p:sp>
      <p:sp>
        <p:nvSpPr>
          <p:cNvPr id="21" name="Text 18"/>
          <p:cNvSpPr/>
          <p:nvPr/>
        </p:nvSpPr>
        <p:spPr>
          <a:xfrm>
            <a:off x="822960" y="31821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D5A80"/>
                </a:solidFill>
              </a:rPr>
              <a:t>Confirms correct product name and price appear in cart</a:t>
            </a:r>
            <a:endParaRPr lang="en-US" sz="900"/>
          </a:p>
        </p:txBody>
      </p:sp>
      <p:sp>
        <p:nvSpPr>
          <p:cNvPr id="22" name="Shape 19"/>
          <p:cNvSpPr/>
          <p:nvPr/>
        </p:nvSpPr>
        <p:spPr>
          <a:xfrm>
            <a:off x="274320" y="3657600"/>
            <a:ext cx="402336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411480" y="3858768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11480" y="38587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4</a:t>
            </a:r>
            <a:endParaRPr lang="en-US" sz="1000"/>
          </a:p>
        </p:txBody>
      </p:sp>
      <p:sp>
        <p:nvSpPr>
          <p:cNvPr id="25" name="Text 22"/>
          <p:cNvSpPr/>
          <p:nvPr/>
        </p:nvSpPr>
        <p:spPr>
          <a:xfrm>
            <a:off x="822960" y="3749040"/>
            <a:ext cx="3337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332"/>
                </a:solidFill>
              </a:rPr>
              <a:t>Cart Workflow</a:t>
            </a:r>
            <a:endParaRPr lang="en-US" sz="1100"/>
          </a:p>
        </p:txBody>
      </p:sp>
      <p:sp>
        <p:nvSpPr>
          <p:cNvPr id="26" name="Text 23"/>
          <p:cNvSpPr/>
          <p:nvPr/>
        </p:nvSpPr>
        <p:spPr>
          <a:xfrm>
            <a:off x="822960" y="400507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D5A80"/>
                </a:solidFill>
              </a:rPr>
              <a:t>End-to-end cart automation from product selection to order</a:t>
            </a:r>
            <a:endParaRPr lang="en-US" sz="900"/>
          </a:p>
        </p:txBody>
      </p:sp>
      <p:sp>
        <p:nvSpPr>
          <p:cNvPr id="27" name="Shape 24"/>
          <p:cNvSpPr/>
          <p:nvPr/>
        </p:nvSpPr>
        <p:spPr>
          <a:xfrm>
            <a:off x="4572000" y="1188720"/>
            <a:ext cx="4297680" cy="33375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2E86DE"/>
                </a:solidFill>
              </a:rPr>
              <a:t>Cart Automation Flow</a:t>
            </a:r>
            <a:endParaRPr lang="en-US" sz="1300"/>
          </a:p>
        </p:txBody>
      </p:sp>
      <p:sp>
        <p:nvSpPr>
          <p:cNvPr id="29" name="Shape 26"/>
          <p:cNvSpPr/>
          <p:nvPr/>
        </p:nvSpPr>
        <p:spPr>
          <a:xfrm>
            <a:off x="4846320" y="1783080"/>
            <a:ext cx="3749040" cy="384048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4846320" y="17830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FFFFFF"/>
                </a:solidFill>
              </a:rPr>
              <a:t>Select Product Category</a:t>
            </a:r>
            <a:endParaRPr lang="en-US" sz="1050"/>
          </a:p>
        </p:txBody>
      </p:sp>
      <p:sp>
        <p:nvSpPr>
          <p:cNvPr id="31" name="Text 28"/>
          <p:cNvSpPr/>
          <p:nvPr/>
        </p:nvSpPr>
        <p:spPr>
          <a:xfrm>
            <a:off x="6537960" y="2167128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2E86DE"/>
                </a:solidFill>
              </a:rPr>
              <a:t>↓</a:t>
            </a:r>
            <a:endParaRPr lang="en-US" sz="1000"/>
          </a:p>
        </p:txBody>
      </p:sp>
      <p:sp>
        <p:nvSpPr>
          <p:cNvPr id="32" name="Shape 29"/>
          <p:cNvSpPr/>
          <p:nvPr/>
        </p:nvSpPr>
        <p:spPr>
          <a:xfrm>
            <a:off x="4846320" y="2295144"/>
            <a:ext cx="3749040" cy="38404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4846320" y="229514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FFFFFF"/>
                </a:solidFill>
              </a:rPr>
              <a:t>Click on Product Item</a:t>
            </a:r>
            <a:endParaRPr lang="en-US" sz="1050"/>
          </a:p>
        </p:txBody>
      </p:sp>
      <p:sp>
        <p:nvSpPr>
          <p:cNvPr id="34" name="Text 31"/>
          <p:cNvSpPr/>
          <p:nvPr/>
        </p:nvSpPr>
        <p:spPr>
          <a:xfrm>
            <a:off x="6537960" y="2679192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2E86DE"/>
                </a:solidFill>
              </a:rPr>
              <a:t>↓</a:t>
            </a:r>
            <a:endParaRPr lang="en-US" sz="1000"/>
          </a:p>
        </p:txBody>
      </p:sp>
      <p:sp>
        <p:nvSpPr>
          <p:cNvPr id="35" name="Shape 32"/>
          <p:cNvSpPr/>
          <p:nvPr/>
        </p:nvSpPr>
        <p:spPr>
          <a:xfrm>
            <a:off x="4846320" y="2807208"/>
            <a:ext cx="3749040" cy="384048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4846320" y="28072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FFFFFF"/>
                </a:solidFill>
              </a:rPr>
              <a:t>Click Add to Cart</a:t>
            </a:r>
            <a:endParaRPr lang="en-US" sz="1050"/>
          </a:p>
        </p:txBody>
      </p:sp>
      <p:sp>
        <p:nvSpPr>
          <p:cNvPr id="37" name="Text 34"/>
          <p:cNvSpPr/>
          <p:nvPr/>
        </p:nvSpPr>
        <p:spPr>
          <a:xfrm>
            <a:off x="6537960" y="3191256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2E86DE"/>
                </a:solidFill>
              </a:rPr>
              <a:t>↓</a:t>
            </a:r>
            <a:endParaRPr lang="en-US" sz="1000"/>
          </a:p>
        </p:txBody>
      </p:sp>
      <p:sp>
        <p:nvSpPr>
          <p:cNvPr id="38" name="Shape 35"/>
          <p:cNvSpPr/>
          <p:nvPr/>
        </p:nvSpPr>
        <p:spPr>
          <a:xfrm>
            <a:off x="4846320" y="3319272"/>
            <a:ext cx="3749040" cy="38404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4846320" y="331927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FFFFFF"/>
                </a:solidFill>
              </a:rPr>
              <a:t>Navigate to Cart Page</a:t>
            </a:r>
            <a:endParaRPr lang="en-US" sz="1050"/>
          </a:p>
        </p:txBody>
      </p:sp>
      <p:sp>
        <p:nvSpPr>
          <p:cNvPr id="40" name="Text 37"/>
          <p:cNvSpPr/>
          <p:nvPr/>
        </p:nvSpPr>
        <p:spPr>
          <a:xfrm>
            <a:off x="6537960" y="3703320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2E86DE"/>
                </a:solidFill>
              </a:rPr>
              <a:t>↓</a:t>
            </a:r>
            <a:endParaRPr lang="en-US" sz="1000"/>
          </a:p>
        </p:txBody>
      </p:sp>
      <p:sp>
        <p:nvSpPr>
          <p:cNvPr id="41" name="Shape 38"/>
          <p:cNvSpPr/>
          <p:nvPr/>
        </p:nvSpPr>
        <p:spPr>
          <a:xfrm>
            <a:off x="4846320" y="3831336"/>
            <a:ext cx="3749040" cy="38404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4846320" y="383133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</a:rPr>
              <a:t>Verify Product in Cart</a:t>
            </a:r>
            <a:endParaRPr lang="en-US" sz="1050"/>
          </a:p>
        </p:txBody>
      </p:sp>
      <p:sp>
        <p:nvSpPr>
          <p:cNvPr id="43" name="Shape 4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850392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</a:rPr>
              <a:t>10</a:t>
            </a:r>
            <a:endParaRPr lang="en-US" sz="1000"/>
          </a:p>
        </p:txBody>
      </p:sp>
      <p:sp>
        <p:nvSpPr>
          <p:cNvPr id="45" name="Text 42"/>
          <p:cNvSpPr/>
          <p:nvPr/>
        </p:nvSpPr>
        <p:spPr>
          <a:xfrm>
            <a:off x="27432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C3F7"/>
                </a:solidFill>
              </a:rPr>
              <a:t>Next Gen QA    - BY  KALYANI 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554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Checkout Functionality Automation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8046720" y="1554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4FC3F7"/>
                </a:solidFill>
              </a:rPr>
              <a:t>WIPRO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914400" cy="914400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1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320040" y="21762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Cart</a:t>
            </a:r>
            <a:endParaRPr lang="en-US" sz="950"/>
          </a:p>
        </p:txBody>
      </p:sp>
      <p:sp>
        <p:nvSpPr>
          <p:cNvPr id="9" name="Text 7"/>
          <p:cNvSpPr/>
          <p:nvPr/>
        </p:nvSpPr>
        <p:spPr>
          <a:xfrm>
            <a:off x="320040" y="245059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4FC3F7"/>
                </a:solidFill>
              </a:rPr>
              <a:t>Item added</a:t>
            </a:r>
            <a:endParaRPr lang="en-US" sz="800"/>
          </a:p>
        </p:txBody>
      </p:sp>
      <p:sp>
        <p:nvSpPr>
          <p:cNvPr id="10" name="Shape 8"/>
          <p:cNvSpPr/>
          <p:nvPr/>
        </p:nvSpPr>
        <p:spPr>
          <a:xfrm>
            <a:off x="1371600" y="1618488"/>
            <a:ext cx="777240" cy="54864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148840" y="1188720"/>
            <a:ext cx="914400" cy="914400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14884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2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2011680" y="21762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Place Order</a:t>
            </a:r>
            <a:endParaRPr lang="en-US" sz="950"/>
          </a:p>
        </p:txBody>
      </p:sp>
      <p:sp>
        <p:nvSpPr>
          <p:cNvPr id="14" name="Text 12"/>
          <p:cNvSpPr/>
          <p:nvPr/>
        </p:nvSpPr>
        <p:spPr>
          <a:xfrm>
            <a:off x="2011680" y="245059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4FC3F7"/>
                </a:solidFill>
              </a:rPr>
              <a:t>Click button</a:t>
            </a:r>
            <a:endParaRPr lang="en-US" sz="800"/>
          </a:p>
        </p:txBody>
      </p:sp>
      <p:sp>
        <p:nvSpPr>
          <p:cNvPr id="15" name="Shape 13"/>
          <p:cNvSpPr/>
          <p:nvPr/>
        </p:nvSpPr>
        <p:spPr>
          <a:xfrm>
            <a:off x="3063240" y="1618488"/>
            <a:ext cx="777240" cy="54864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840480" y="1188720"/>
            <a:ext cx="914400" cy="914400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84048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3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3703320" y="21762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Fill Form</a:t>
            </a:r>
            <a:endParaRPr lang="en-US" sz="950"/>
          </a:p>
        </p:txBody>
      </p:sp>
      <p:sp>
        <p:nvSpPr>
          <p:cNvPr id="19" name="Text 17"/>
          <p:cNvSpPr/>
          <p:nvPr/>
        </p:nvSpPr>
        <p:spPr>
          <a:xfrm>
            <a:off x="3703320" y="245059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4FC3F7"/>
                </a:solidFill>
              </a:rPr>
              <a:t>User details</a:t>
            </a:r>
            <a:endParaRPr lang="en-US" sz="800"/>
          </a:p>
        </p:txBody>
      </p:sp>
      <p:sp>
        <p:nvSpPr>
          <p:cNvPr id="20" name="Shape 18"/>
          <p:cNvSpPr/>
          <p:nvPr/>
        </p:nvSpPr>
        <p:spPr>
          <a:xfrm>
            <a:off x="4754880" y="1618488"/>
            <a:ext cx="777240" cy="54864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532120" y="1188720"/>
            <a:ext cx="914400" cy="914400"/>
          </a:xfrm>
          <a:prstGeom prst="ellips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53212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4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5394960" y="21762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Purchase</a:t>
            </a:r>
            <a:endParaRPr lang="en-US" sz="950"/>
          </a:p>
        </p:txBody>
      </p:sp>
      <p:sp>
        <p:nvSpPr>
          <p:cNvPr id="24" name="Text 22"/>
          <p:cNvSpPr/>
          <p:nvPr/>
        </p:nvSpPr>
        <p:spPr>
          <a:xfrm>
            <a:off x="5394960" y="245059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4FC3F7"/>
                </a:solidFill>
              </a:rPr>
              <a:t>Click confirm</a:t>
            </a:r>
            <a:endParaRPr lang="en-US" sz="800"/>
          </a:p>
        </p:txBody>
      </p:sp>
      <p:sp>
        <p:nvSpPr>
          <p:cNvPr id="25" name="Shape 23"/>
          <p:cNvSpPr/>
          <p:nvPr/>
        </p:nvSpPr>
        <p:spPr>
          <a:xfrm>
            <a:off x="6446520" y="1618488"/>
            <a:ext cx="777240" cy="54864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223760" y="1188720"/>
            <a:ext cx="914400" cy="9144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22376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5</a:t>
            </a:r>
            <a:endParaRPr lang="en-US" sz="1600"/>
          </a:p>
        </p:txBody>
      </p:sp>
      <p:sp>
        <p:nvSpPr>
          <p:cNvPr id="28" name="Text 26"/>
          <p:cNvSpPr/>
          <p:nvPr/>
        </p:nvSpPr>
        <p:spPr>
          <a:xfrm>
            <a:off x="7086600" y="21762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Verify</a:t>
            </a:r>
            <a:endParaRPr lang="en-US" sz="950"/>
          </a:p>
        </p:txBody>
      </p:sp>
      <p:sp>
        <p:nvSpPr>
          <p:cNvPr id="29" name="Text 27"/>
          <p:cNvSpPr/>
          <p:nvPr/>
        </p:nvSpPr>
        <p:spPr>
          <a:xfrm>
            <a:off x="7086600" y="245059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4FC3F7"/>
                </a:solidFill>
              </a:rPr>
              <a:t>Success msg</a:t>
            </a:r>
            <a:endParaRPr lang="en-US" sz="800"/>
          </a:p>
        </p:txBody>
      </p:sp>
      <p:sp>
        <p:nvSpPr>
          <p:cNvPr id="30" name="Shape 28"/>
          <p:cNvSpPr/>
          <p:nvPr/>
        </p:nvSpPr>
        <p:spPr>
          <a:xfrm>
            <a:off x="274320" y="2834640"/>
            <a:ext cx="4114800" cy="804672"/>
          </a:xfrm>
          <a:prstGeom prst="rect">
            <a:avLst/>
          </a:prstGeom>
          <a:solidFill>
            <a:srgbClr val="162B4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11480" y="3081528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11480" y="30815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D1B2A"/>
                </a:solidFill>
              </a:rPr>
              <a:t>✓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804672" y="292608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</a:rPr>
              <a:t>Place Order Automation</a:t>
            </a:r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804672" y="320040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B9BB8"/>
                </a:solidFill>
              </a:rPr>
              <a:t>Automates the Place Order button click from cart to initiate checkout</a:t>
            </a:r>
            <a:endParaRPr lang="en-US" sz="900"/>
          </a:p>
        </p:txBody>
      </p:sp>
      <p:sp>
        <p:nvSpPr>
          <p:cNvPr id="35" name="Shape 33"/>
          <p:cNvSpPr/>
          <p:nvPr/>
        </p:nvSpPr>
        <p:spPr>
          <a:xfrm>
            <a:off x="4709160" y="2834640"/>
            <a:ext cx="4114800" cy="804672"/>
          </a:xfrm>
          <a:prstGeom prst="rect">
            <a:avLst/>
          </a:prstGeom>
          <a:solidFill>
            <a:srgbClr val="162B4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846320" y="3081528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846320" y="30815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D1B2A"/>
                </a:solidFill>
              </a:rPr>
              <a:t>✓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5239512" y="292608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</a:rPr>
              <a:t>Purchase Confirmation</a:t>
            </a:r>
            <a:endParaRPr lang="en-US" sz="1050"/>
          </a:p>
        </p:txBody>
      </p:sp>
      <p:sp>
        <p:nvSpPr>
          <p:cNvPr id="39" name="Text 37"/>
          <p:cNvSpPr/>
          <p:nvPr/>
        </p:nvSpPr>
        <p:spPr>
          <a:xfrm>
            <a:off x="5239512" y="320040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B9BB8"/>
                </a:solidFill>
              </a:rPr>
              <a:t>Verifies purchase confirmation modal appears with order details</a:t>
            </a:r>
            <a:endParaRPr lang="en-US" sz="900"/>
          </a:p>
        </p:txBody>
      </p:sp>
      <p:sp>
        <p:nvSpPr>
          <p:cNvPr id="40" name="Shape 38"/>
          <p:cNvSpPr/>
          <p:nvPr/>
        </p:nvSpPr>
        <p:spPr>
          <a:xfrm>
            <a:off x="274320" y="3767328"/>
            <a:ext cx="4114800" cy="804672"/>
          </a:xfrm>
          <a:prstGeom prst="rect">
            <a:avLst/>
          </a:prstGeom>
          <a:solidFill>
            <a:srgbClr val="162B4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11480" y="4014216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11480" y="40142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D1B2A"/>
                </a:solidFill>
              </a:rPr>
              <a:t>✓</a:t>
            </a:r>
            <a:endParaRPr lang="en-US" sz="1100"/>
          </a:p>
        </p:txBody>
      </p:sp>
      <p:sp>
        <p:nvSpPr>
          <p:cNvPr id="43" name="Text 41"/>
          <p:cNvSpPr/>
          <p:nvPr/>
        </p:nvSpPr>
        <p:spPr>
          <a:xfrm>
            <a:off x="804672" y="385876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</a:rPr>
              <a:t>User Details Form</a:t>
            </a:r>
            <a:endParaRPr lang="en-US" sz="1050"/>
          </a:p>
        </p:txBody>
      </p:sp>
      <p:sp>
        <p:nvSpPr>
          <p:cNvPr id="44" name="Text 42"/>
          <p:cNvSpPr/>
          <p:nvPr/>
        </p:nvSpPr>
        <p:spPr>
          <a:xfrm>
            <a:off x="804672" y="413308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B9BB8"/>
                </a:solidFill>
              </a:rPr>
              <a:t>Fills name, country, city, credit card, month, year in order form</a:t>
            </a:r>
            <a:endParaRPr lang="en-US" sz="900"/>
          </a:p>
        </p:txBody>
      </p:sp>
      <p:sp>
        <p:nvSpPr>
          <p:cNvPr id="45" name="Shape 43"/>
          <p:cNvSpPr/>
          <p:nvPr/>
        </p:nvSpPr>
        <p:spPr>
          <a:xfrm>
            <a:off x="4709160" y="3767328"/>
            <a:ext cx="4114800" cy="804672"/>
          </a:xfrm>
          <a:prstGeom prst="rect">
            <a:avLst/>
          </a:prstGeom>
          <a:solidFill>
            <a:srgbClr val="162B4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4846320" y="4014216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846320" y="40142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D1B2A"/>
                </a:solidFill>
              </a:rPr>
              <a:t>✓</a:t>
            </a:r>
            <a:endParaRPr lang="en-US" sz="1100"/>
          </a:p>
        </p:txBody>
      </p:sp>
      <p:sp>
        <p:nvSpPr>
          <p:cNvPr id="48" name="Text 46"/>
          <p:cNvSpPr/>
          <p:nvPr/>
        </p:nvSpPr>
        <p:spPr>
          <a:xfrm>
            <a:off x="5239512" y="385876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</a:rPr>
              <a:t>Order Success Message</a:t>
            </a:r>
            <a:endParaRPr lang="en-US" sz="1050"/>
          </a:p>
        </p:txBody>
      </p:sp>
      <p:sp>
        <p:nvSpPr>
          <p:cNvPr id="49" name="Text 47"/>
          <p:cNvSpPr/>
          <p:nvPr/>
        </p:nvSpPr>
        <p:spPr>
          <a:xfrm>
            <a:off x="5239512" y="413308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B9BB8"/>
                </a:solidFill>
              </a:rPr>
              <a:t>Validates Thank You message and purchase ID in confirmation popup</a:t>
            </a:r>
            <a:endParaRPr lang="en-US" sz="900"/>
          </a:p>
        </p:txBody>
      </p:sp>
      <p:sp>
        <p:nvSpPr>
          <p:cNvPr id="50" name="Shape 4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850392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</a:rPr>
              <a:t>11</a:t>
            </a:r>
            <a:endParaRPr lang="en-US" sz="1000"/>
          </a:p>
        </p:txBody>
      </p:sp>
      <p:sp>
        <p:nvSpPr>
          <p:cNvPr id="52" name="Text 50"/>
          <p:cNvSpPr/>
          <p:nvPr/>
        </p:nvSpPr>
        <p:spPr>
          <a:xfrm>
            <a:off x="27432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C3F7"/>
                </a:solidFill>
              </a:rPr>
              <a:t>Next Gen QA  - BY KALYANI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554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Contact Functionality Automation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7863840" y="1554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4FC3F7"/>
                </a:solidFill>
              </a:rPr>
              <a:t>WIPRO</a:t>
            </a:r>
            <a:endParaRPr lang="en-US" sz="9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051560"/>
            <a:ext cx="1097280" cy="1097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234440"/>
            <a:ext cx="4114800" cy="9601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74320" y="1234440"/>
            <a:ext cx="4114800" cy="5486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57200" y="137160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332"/>
                </a:solidFill>
              </a:rPr>
              <a:t>Contact Form Automation</a:t>
            </a:r>
            <a:endParaRPr lang="en-US" sz="1200"/>
          </a:p>
        </p:txBody>
      </p:sp>
      <p:sp>
        <p:nvSpPr>
          <p:cNvPr id="10" name="Text 7"/>
          <p:cNvSpPr/>
          <p:nvPr/>
        </p:nvSpPr>
        <p:spPr>
          <a:xfrm>
            <a:off x="457200" y="16916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D5A80"/>
                </a:solidFill>
              </a:rPr>
              <a:t>Automates navigation to Contact page and form element interaction</a:t>
            </a:r>
            <a:endParaRPr lang="en-US" sz="1000"/>
          </a:p>
        </p:txBody>
      </p:sp>
      <p:sp>
        <p:nvSpPr>
          <p:cNvPr id="11" name="Shape 8"/>
          <p:cNvSpPr/>
          <p:nvPr/>
        </p:nvSpPr>
        <p:spPr>
          <a:xfrm>
            <a:off x="274320" y="2331720"/>
            <a:ext cx="4114800" cy="9601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274320" y="2331720"/>
            <a:ext cx="4114800" cy="54864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57200" y="24688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332"/>
                </a:solidFill>
              </a:rPr>
              <a:t>Form Submission</a:t>
            </a:r>
            <a:endParaRPr lang="en-US" sz="1200"/>
          </a:p>
        </p:txBody>
      </p:sp>
      <p:sp>
        <p:nvSpPr>
          <p:cNvPr id="14" name="Text 11"/>
          <p:cNvSpPr/>
          <p:nvPr/>
        </p:nvSpPr>
        <p:spPr>
          <a:xfrm>
            <a:off x="457200" y="27889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D5A80"/>
                </a:solidFill>
              </a:rPr>
              <a:t>Fills and submits contact form with email, name and message fields</a:t>
            </a:r>
            <a:endParaRPr lang="en-US" sz="1000"/>
          </a:p>
        </p:txBody>
      </p:sp>
      <p:sp>
        <p:nvSpPr>
          <p:cNvPr id="15" name="Shape 12"/>
          <p:cNvSpPr/>
          <p:nvPr/>
        </p:nvSpPr>
        <p:spPr>
          <a:xfrm>
            <a:off x="274320" y="3429000"/>
            <a:ext cx="4114800" cy="9601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274320" y="3429000"/>
            <a:ext cx="41148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57200" y="35661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332"/>
                </a:solidFill>
              </a:rPr>
              <a:t>Alert Message Handling</a:t>
            </a:r>
            <a:endParaRPr lang="en-US" sz="1200"/>
          </a:p>
        </p:txBody>
      </p:sp>
      <p:sp>
        <p:nvSpPr>
          <p:cNvPr id="18" name="Text 15"/>
          <p:cNvSpPr/>
          <p:nvPr/>
        </p:nvSpPr>
        <p:spPr>
          <a:xfrm>
            <a:off x="457200" y="38862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D5A80"/>
                </a:solidFill>
              </a:rPr>
              <a:t>Captures and verifies success/error alert after form submission</a:t>
            </a:r>
            <a:endParaRPr lang="en-US" sz="1000"/>
          </a:p>
        </p:txBody>
      </p:sp>
      <p:sp>
        <p:nvSpPr>
          <p:cNvPr id="19" name="Shape 16"/>
          <p:cNvSpPr/>
          <p:nvPr/>
        </p:nvSpPr>
        <p:spPr>
          <a:xfrm>
            <a:off x="4663440" y="1188720"/>
            <a:ext cx="4206240" cy="3383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4663440" y="1188720"/>
            <a:ext cx="4206240" cy="45720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663440" y="11887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Contact Form</a:t>
            </a:r>
            <a:endParaRPr lang="en-US" sz="1400"/>
          </a:p>
        </p:txBody>
      </p:sp>
      <p:sp>
        <p:nvSpPr>
          <p:cNvPr id="22" name="Text 19"/>
          <p:cNvSpPr/>
          <p:nvPr/>
        </p:nvSpPr>
        <p:spPr>
          <a:xfrm>
            <a:off x="4846320" y="18105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2332"/>
                </a:solidFill>
              </a:rPr>
              <a:t>Contact Email:</a:t>
            </a:r>
            <a:endParaRPr lang="en-US" sz="1000"/>
          </a:p>
        </p:txBody>
      </p:sp>
      <p:sp>
        <p:nvSpPr>
          <p:cNvPr id="23" name="Shape 20"/>
          <p:cNvSpPr/>
          <p:nvPr/>
        </p:nvSpPr>
        <p:spPr>
          <a:xfrm>
            <a:off x="4846320" y="2057400"/>
            <a:ext cx="3657600" cy="29260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956048" y="2057400"/>
            <a:ext cx="3438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B9BB8"/>
                </a:solidFill>
              </a:rPr>
              <a:t>user@example.com</a:t>
            </a:r>
            <a:endParaRPr lang="en-US" sz="900"/>
          </a:p>
        </p:txBody>
      </p:sp>
      <p:sp>
        <p:nvSpPr>
          <p:cNvPr id="25" name="Text 22"/>
          <p:cNvSpPr/>
          <p:nvPr/>
        </p:nvSpPr>
        <p:spPr>
          <a:xfrm>
            <a:off x="4846320" y="2542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2332"/>
                </a:solidFill>
              </a:rPr>
              <a:t>Name:</a:t>
            </a:r>
            <a:endParaRPr lang="en-US" sz="1000"/>
          </a:p>
        </p:txBody>
      </p:sp>
      <p:sp>
        <p:nvSpPr>
          <p:cNvPr id="26" name="Shape 23"/>
          <p:cNvSpPr/>
          <p:nvPr/>
        </p:nvSpPr>
        <p:spPr>
          <a:xfrm>
            <a:off x="4846320" y="2788920"/>
            <a:ext cx="3657600" cy="292608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956048" y="2788920"/>
            <a:ext cx="34381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B9BB8"/>
                </a:solidFill>
              </a:rPr>
              <a:t>Test User</a:t>
            </a:r>
            <a:endParaRPr lang="en-US" sz="900"/>
          </a:p>
        </p:txBody>
      </p:sp>
      <p:sp>
        <p:nvSpPr>
          <p:cNvPr id="28" name="Text 25"/>
          <p:cNvSpPr/>
          <p:nvPr/>
        </p:nvSpPr>
        <p:spPr>
          <a:xfrm>
            <a:off x="4846320" y="32735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A2332"/>
                </a:solidFill>
              </a:rPr>
              <a:t>Message:</a:t>
            </a:r>
            <a:endParaRPr lang="en-US" sz="1000"/>
          </a:p>
        </p:txBody>
      </p:sp>
      <p:sp>
        <p:nvSpPr>
          <p:cNvPr id="29" name="Shape 26"/>
          <p:cNvSpPr/>
          <p:nvPr/>
        </p:nvSpPr>
        <p:spPr>
          <a:xfrm>
            <a:off x="4846320" y="3520440"/>
            <a:ext cx="3657600" cy="50292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4956048" y="3520440"/>
            <a:ext cx="3438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B9BB8"/>
                </a:solidFill>
              </a:rPr>
              <a:t>Automated test message...</a:t>
            </a:r>
            <a:endParaRPr lang="en-US" sz="900"/>
          </a:p>
        </p:txBody>
      </p:sp>
      <p:sp>
        <p:nvSpPr>
          <p:cNvPr id="31" name="Shape 28"/>
          <p:cNvSpPr/>
          <p:nvPr/>
        </p:nvSpPr>
        <p:spPr>
          <a:xfrm>
            <a:off x="5669280" y="4160520"/>
            <a:ext cx="1463040" cy="32004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5669280" y="41605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</a:rPr>
              <a:t>Send Message</a:t>
            </a:r>
            <a:endParaRPr lang="en-US" sz="950"/>
          </a:p>
        </p:txBody>
      </p:sp>
      <p:sp>
        <p:nvSpPr>
          <p:cNvPr id="33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850392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</a:rPr>
              <a:t>12</a:t>
            </a:r>
            <a:endParaRPr lang="en-US" sz="1000"/>
          </a:p>
        </p:txBody>
      </p:sp>
      <p:sp>
        <p:nvSpPr>
          <p:cNvPr id="35" name="Text 32"/>
          <p:cNvSpPr/>
          <p:nvPr/>
        </p:nvSpPr>
        <p:spPr>
          <a:xfrm>
            <a:off x="27432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C3F7"/>
                </a:solidFill>
              </a:rPr>
              <a:t>Next Gen QA   -BY DHARANI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2CC070-63B8-85DA-F3A3-6A0E408C2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9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DACFB23-124C-F1C2-46C1-54719856A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" y="115062"/>
            <a:ext cx="9095232" cy="491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040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554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Faced &amp; Solutions Implemented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7863840" y="1554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4FC3F7"/>
                </a:solidFill>
              </a:rPr>
              <a:t>WIPRO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023360" cy="4114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⚠  Challenges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4023360" cy="658368"/>
          </a:xfrm>
          <a:prstGeom prst="rect">
            <a:avLst/>
          </a:prstGeom>
          <a:solidFill>
            <a:srgbClr val="2A0A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1737360"/>
            <a:ext cx="64008" cy="65836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1792224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9090"/>
                </a:solidFill>
              </a:rPr>
              <a:t>Dynamic Element Handling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457200" y="2048256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B9BB8"/>
                </a:solidFill>
              </a:rPr>
              <a:t>Web elements with changing IDs or rendered via AJAX were difficult to locate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274320" y="2487168"/>
            <a:ext cx="4023360" cy="658368"/>
          </a:xfrm>
          <a:prstGeom prst="rect">
            <a:avLst/>
          </a:prstGeom>
          <a:solidFill>
            <a:srgbClr val="2A0A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2487168"/>
            <a:ext cx="64008" cy="65836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2542032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9090"/>
                </a:solidFill>
              </a:rPr>
              <a:t>Alert Synchronization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457200" y="2798064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B9BB8"/>
                </a:solidFill>
              </a:rPr>
              <a:t>Browser alerts appeared asynchronously causing test failures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274320" y="3236976"/>
            <a:ext cx="4023360" cy="658368"/>
          </a:xfrm>
          <a:prstGeom prst="rect">
            <a:avLst/>
          </a:prstGeom>
          <a:solidFill>
            <a:srgbClr val="2A0A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74320" y="3236976"/>
            <a:ext cx="64008" cy="65836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7200" y="3291840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9090"/>
                </a:solidFill>
              </a:rPr>
              <a:t>XPath Issues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457200" y="3547872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B9BB8"/>
                </a:solidFill>
              </a:rPr>
              <a:t>Generic or fragile XPath selectors broke with minor UI changes</a:t>
            </a:r>
            <a:endParaRPr lang="en-US" sz="900"/>
          </a:p>
        </p:txBody>
      </p:sp>
      <p:sp>
        <p:nvSpPr>
          <p:cNvPr id="20" name="Shape 18"/>
          <p:cNvSpPr/>
          <p:nvPr/>
        </p:nvSpPr>
        <p:spPr>
          <a:xfrm>
            <a:off x="274320" y="3986784"/>
            <a:ext cx="4023360" cy="658368"/>
          </a:xfrm>
          <a:prstGeom prst="rect">
            <a:avLst/>
          </a:prstGeom>
          <a:solidFill>
            <a:srgbClr val="2A0A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74320" y="3986784"/>
            <a:ext cx="64008" cy="65836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57200" y="4041648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9090"/>
                </a:solidFill>
              </a:rPr>
              <a:t>Timing &amp; Wait Issues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B9BB8"/>
                </a:solidFill>
              </a:rPr>
              <a:t>Race conditions between page load and element interaction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4846320" y="1188720"/>
            <a:ext cx="4023360" cy="411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46320" y="11887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✓  Solutions</a:t>
            </a:r>
            <a:endParaRPr lang="en-US" sz="1400"/>
          </a:p>
        </p:txBody>
      </p:sp>
      <p:sp>
        <p:nvSpPr>
          <p:cNvPr id="26" name="Shape 24"/>
          <p:cNvSpPr/>
          <p:nvPr/>
        </p:nvSpPr>
        <p:spPr>
          <a:xfrm>
            <a:off x="4846320" y="1737360"/>
            <a:ext cx="4023360" cy="658368"/>
          </a:xfrm>
          <a:prstGeom prst="rect">
            <a:avLst/>
          </a:prstGeom>
          <a:solidFill>
            <a:srgbClr val="0A2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846320" y="1737360"/>
            <a:ext cx="64008" cy="65836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029200" y="1792224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90FFB0"/>
                </a:solidFill>
              </a:rPr>
              <a:t>Explicit Waits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5029200" y="2048256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B9BB8"/>
                </a:solidFill>
              </a:rPr>
              <a:t>Used WebDriverWait with ExpectedConditions to wait for elements dynamically</a:t>
            </a: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4846320" y="2487168"/>
            <a:ext cx="4023360" cy="658368"/>
          </a:xfrm>
          <a:prstGeom prst="rect">
            <a:avLst/>
          </a:prstGeom>
          <a:solidFill>
            <a:srgbClr val="0A2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846320" y="2487168"/>
            <a:ext cx="64008" cy="65836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029200" y="2542032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90FFB0"/>
                </a:solidFill>
              </a:rPr>
              <a:t>Alert Handling</a:t>
            </a:r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5029200" y="2798064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B9BB8"/>
                </a:solidFill>
              </a:rPr>
              <a:t>Implemented switch_to.alert() with try-except for robust alert management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4846320" y="3236976"/>
            <a:ext cx="4023360" cy="658368"/>
          </a:xfrm>
          <a:prstGeom prst="rect">
            <a:avLst/>
          </a:prstGeom>
          <a:solidFill>
            <a:srgbClr val="0A2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846320" y="3236976"/>
            <a:ext cx="64008" cy="65836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029200" y="3291840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90FFB0"/>
                </a:solidFill>
              </a:rPr>
              <a:t>Robust XPath</a:t>
            </a:r>
            <a:endParaRPr lang="en-US" sz="1050"/>
          </a:p>
        </p:txBody>
      </p:sp>
      <p:sp>
        <p:nvSpPr>
          <p:cNvPr id="37" name="Text 35"/>
          <p:cNvSpPr/>
          <p:nvPr/>
        </p:nvSpPr>
        <p:spPr>
          <a:xfrm>
            <a:off x="5029200" y="3547872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B9BB8"/>
                </a:solidFill>
              </a:rPr>
              <a:t>Built precise XPath with multiple attributes and text-based locators</a:t>
            </a:r>
            <a:endParaRPr lang="en-US" sz="900"/>
          </a:p>
        </p:txBody>
      </p:sp>
      <p:sp>
        <p:nvSpPr>
          <p:cNvPr id="38" name="Shape 36"/>
          <p:cNvSpPr/>
          <p:nvPr/>
        </p:nvSpPr>
        <p:spPr>
          <a:xfrm>
            <a:off x="4846320" y="3986784"/>
            <a:ext cx="4023360" cy="658368"/>
          </a:xfrm>
          <a:prstGeom prst="rect">
            <a:avLst/>
          </a:prstGeom>
          <a:solidFill>
            <a:srgbClr val="0A2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846320" y="3986784"/>
            <a:ext cx="64008" cy="65836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029200" y="4041648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90FFB0"/>
                </a:solidFill>
              </a:rPr>
              <a:t>Exception Handling</a:t>
            </a:r>
            <a:endParaRPr lang="en-US" sz="1050"/>
          </a:p>
        </p:txBody>
      </p:sp>
      <p:sp>
        <p:nvSpPr>
          <p:cNvPr id="41" name="Text 39"/>
          <p:cNvSpPr/>
          <p:nvPr/>
        </p:nvSpPr>
        <p:spPr>
          <a:xfrm>
            <a:off x="5029200" y="429768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B9BB8"/>
                </a:solidFill>
              </a:rPr>
              <a:t>Added try-except blocks and retry logic for flaky test scenarios</a:t>
            </a:r>
            <a:endParaRPr lang="en-US" sz="900"/>
          </a:p>
        </p:txBody>
      </p:sp>
      <p:sp>
        <p:nvSpPr>
          <p:cNvPr id="42" name="Shape 4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50392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</a:rPr>
              <a:t>15</a:t>
            </a:r>
            <a:endParaRPr lang="en-US" sz="1000"/>
          </a:p>
        </p:txBody>
      </p:sp>
      <p:sp>
        <p:nvSpPr>
          <p:cNvPr id="44" name="Text 42"/>
          <p:cNvSpPr/>
          <p:nvPr/>
        </p:nvSpPr>
        <p:spPr>
          <a:xfrm>
            <a:off x="27432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C3F7"/>
                </a:solidFill>
              </a:rPr>
              <a:t>Next Gen QA  - BY BHAVANA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554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 Advantages &amp; Future Enhancements</a:t>
            </a:r>
            <a:endParaRPr lang="en-US" sz="2100"/>
          </a:p>
        </p:txBody>
      </p:sp>
      <p:sp>
        <p:nvSpPr>
          <p:cNvPr id="5" name="Text 3"/>
          <p:cNvSpPr/>
          <p:nvPr/>
        </p:nvSpPr>
        <p:spPr>
          <a:xfrm>
            <a:off x="7863840" y="1554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11556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E86DE"/>
                </a:solidFill>
              </a:rPr>
              <a:t>Framework Advantages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402336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2331720"/>
            <a:ext cx="402336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74320" y="3154680"/>
            <a:ext cx="402336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3977640"/>
            <a:ext cx="402336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63440" y="111556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59E0B"/>
                </a:solidFill>
              </a:rPr>
              <a:t>Future Enhancements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420624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663440" y="1508760"/>
            <a:ext cx="594360" cy="7132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663440" y="1508760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D1B2A"/>
                </a:solidFill>
              </a:rPr>
              <a:t>01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5349240" y="16002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332"/>
                </a:solidFill>
              </a:rPr>
              <a:t>CI/CD with Jenkins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5349240" y="1874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D5A80"/>
                </a:solidFill>
              </a:rPr>
              <a:t>Integrate tests into Jenkins pipelines for continuous testing on code commits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4663440" y="2331720"/>
            <a:ext cx="420624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663440" y="2331720"/>
            <a:ext cx="594360" cy="7132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663440" y="2331720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D1B2A"/>
                </a:solidFill>
              </a:rPr>
              <a:t>02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5349240" y="24231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332"/>
                </a:solidFill>
              </a:rPr>
              <a:t>Cross-Browser Testing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5349240" y="2697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D5A80"/>
                </a:solidFill>
              </a:rPr>
              <a:t>Extend coverage to Firefox, Edge, and Safari browsers using WebDriver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4663440" y="3154680"/>
            <a:ext cx="420624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663440" y="3154680"/>
            <a:ext cx="594360" cy="7132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63440" y="3154680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D1B2A"/>
                </a:solidFill>
              </a:rPr>
              <a:t>03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5349240" y="32461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332"/>
                </a:solidFill>
              </a:rPr>
              <a:t>Data-Driven Framework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5349240" y="3520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D5A80"/>
                </a:solidFill>
              </a:rPr>
              <a:t>Implement parameterized testing with Excel/CSV data inputs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4663440" y="3977640"/>
            <a:ext cx="4206240" cy="7132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663440" y="3977640"/>
            <a:ext cx="594360" cy="7132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663440" y="3977640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D1B2A"/>
                </a:solidFill>
              </a:rPr>
              <a:t>04</a:t>
            </a:r>
            <a:endParaRPr lang="en-US" sz="1400"/>
          </a:p>
        </p:txBody>
      </p:sp>
      <p:sp>
        <p:nvSpPr>
          <p:cNvPr id="30" name="Text 28"/>
          <p:cNvSpPr/>
          <p:nvPr/>
        </p:nvSpPr>
        <p:spPr>
          <a:xfrm>
            <a:off x="5349240" y="40690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332"/>
                </a:solidFill>
              </a:rPr>
              <a:t>Reporting Dashboard</a:t>
            </a:r>
            <a:endParaRPr lang="en-US" sz="1100"/>
          </a:p>
        </p:txBody>
      </p:sp>
      <p:sp>
        <p:nvSpPr>
          <p:cNvPr id="31" name="Text 29"/>
          <p:cNvSpPr/>
          <p:nvPr/>
        </p:nvSpPr>
        <p:spPr>
          <a:xfrm>
            <a:off x="5349240" y="4343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D5A80"/>
                </a:solidFill>
              </a:rPr>
              <a:t>Integrate Allure or ExtentReports for rich HTML reporting dashboards</a:t>
            </a:r>
            <a:endParaRPr lang="en-US" sz="900"/>
          </a:p>
        </p:txBody>
      </p:sp>
      <p:sp>
        <p:nvSpPr>
          <p:cNvPr id="32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50392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</a:rPr>
              <a:t>16</a:t>
            </a:r>
            <a:endParaRPr lang="en-US" sz="1000"/>
          </a:p>
        </p:txBody>
      </p:sp>
      <p:sp>
        <p:nvSpPr>
          <p:cNvPr id="34" name="Text 32"/>
          <p:cNvSpPr/>
          <p:nvPr/>
        </p:nvSpPr>
        <p:spPr>
          <a:xfrm>
            <a:off x="274320" y="4828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FC3F7"/>
                </a:solidFill>
              </a:rPr>
              <a:t>Next Gen QA   - BHAVANA</a:t>
            </a:r>
            <a:endParaRPr lang="en-US" sz="1000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655064"/>
            <a:ext cx="411480" cy="41148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960120" y="16002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332"/>
                </a:solidFill>
              </a:rPr>
              <a:t>Reusable Framework</a:t>
            </a:r>
            <a:endParaRPr lang="en-US" sz="1100"/>
          </a:p>
        </p:txBody>
      </p:sp>
      <p:sp>
        <p:nvSpPr>
          <p:cNvPr id="37" name="Text 34"/>
          <p:cNvSpPr/>
          <p:nvPr/>
        </p:nvSpPr>
        <p:spPr>
          <a:xfrm>
            <a:off x="960120" y="18745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D5A80"/>
                </a:solidFill>
              </a:rPr>
              <a:t>POM-based design makes tests modular and reusable across projects</a:t>
            </a:r>
            <a:endParaRPr lang="en-US" sz="900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300984"/>
            <a:ext cx="411480" cy="41148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960120" y="324612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332"/>
                </a:solidFill>
              </a:rPr>
              <a:t>Better Maintainability</a:t>
            </a:r>
            <a:endParaRPr lang="en-US" sz="1100"/>
          </a:p>
        </p:txBody>
      </p:sp>
      <p:sp>
        <p:nvSpPr>
          <p:cNvPr id="40" name="Text 36"/>
          <p:cNvSpPr/>
          <p:nvPr/>
        </p:nvSpPr>
        <p:spPr>
          <a:xfrm>
            <a:off x="960120" y="35204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D5A80"/>
                </a:solidFill>
              </a:rPr>
              <a:t>Centralized locators make updates quick and isolated</a:t>
            </a:r>
            <a:endParaRPr lang="en-US" sz="900"/>
          </a:p>
        </p:txBody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2478024"/>
            <a:ext cx="411480" cy="41148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960120" y="242316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332"/>
                </a:solidFill>
              </a:rPr>
              <a:t>Faster Execution</a:t>
            </a:r>
            <a:endParaRPr lang="en-US" sz="1100"/>
          </a:p>
        </p:txBody>
      </p:sp>
      <p:sp>
        <p:nvSpPr>
          <p:cNvPr id="43" name="Text 38"/>
          <p:cNvSpPr/>
          <p:nvPr/>
        </p:nvSpPr>
        <p:spPr>
          <a:xfrm>
            <a:off x="960120" y="269748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D5A80"/>
                </a:solidFill>
              </a:rPr>
              <a:t>Automated tests run significantly faster than manual testing</a:t>
            </a:r>
            <a:endParaRPr lang="en-US" sz="900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4123944"/>
            <a:ext cx="411480" cy="411480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960120" y="406908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332"/>
                </a:solidFill>
              </a:rPr>
              <a:t>Reduced Manual Effort</a:t>
            </a:r>
            <a:endParaRPr lang="en-US" sz="1100"/>
          </a:p>
        </p:txBody>
      </p:sp>
      <p:sp>
        <p:nvSpPr>
          <p:cNvPr id="46" name="Text 40"/>
          <p:cNvSpPr/>
          <p:nvPr/>
        </p:nvSpPr>
        <p:spPr>
          <a:xfrm>
            <a:off x="960120" y="43434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3D5A80"/>
                </a:solidFill>
              </a:rPr>
              <a:t>Eliminates repetitive manual test cycles saving QA time</a:t>
            </a:r>
            <a:endParaRPr lang="en-US"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24340" y="-29718"/>
            <a:ext cx="457200" cy="514350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 flipV="1">
            <a:off x="457200" y="4745736"/>
            <a:ext cx="8229600" cy="54864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40080"/>
            <a:ext cx="914400" cy="914400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640080"/>
            <a:ext cx="914400" cy="914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5600"/>
          </a:p>
        </p:txBody>
      </p:sp>
      <p:sp>
        <p:nvSpPr>
          <p:cNvPr id="14" name="Shape 10"/>
          <p:cNvSpPr/>
          <p:nvPr/>
        </p:nvSpPr>
        <p:spPr>
          <a:xfrm>
            <a:off x="2286000" y="2542032"/>
            <a:ext cx="45720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731520" y="26974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&amp; Answers</a:t>
            </a:r>
            <a:endParaRPr lang="en-US" sz="2600"/>
          </a:p>
        </p:txBody>
      </p:sp>
      <p:sp>
        <p:nvSpPr>
          <p:cNvPr id="16" name="Text 12"/>
          <p:cNvSpPr/>
          <p:nvPr/>
        </p:nvSpPr>
        <p:spPr>
          <a:xfrm>
            <a:off x="731520" y="33832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59E0B"/>
                </a:solidFill>
              </a:rPr>
              <a:t>Team: Next Gen QA</a:t>
            </a:r>
            <a:endParaRPr lang="en-US" sz="1800"/>
          </a:p>
        </p:txBody>
      </p:sp>
      <p:sp>
        <p:nvSpPr>
          <p:cNvPr id="17" name="Text 13"/>
          <p:cNvSpPr/>
          <p:nvPr/>
        </p:nvSpPr>
        <p:spPr>
          <a:xfrm>
            <a:off x="731520" y="385876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7B9BB8"/>
                </a:solidFill>
              </a:rPr>
              <a:t>DemoBlaze E-Commerce Automation | Selenium with Python</a:t>
            </a:r>
            <a:endParaRPr lang="en-US" sz="1100"/>
          </a:p>
        </p:txBody>
      </p:sp>
      <p:sp>
        <p:nvSpPr>
          <p:cNvPr id="18" name="Shape 14"/>
          <p:cNvSpPr/>
          <p:nvPr/>
        </p:nvSpPr>
        <p:spPr>
          <a:xfrm>
            <a:off x="457200" y="4315968"/>
            <a:ext cx="8229600" cy="54864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7863840" y="44074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4FC3F7"/>
                </a:solidFill>
              </a:rPr>
              <a:t>17</a:t>
            </a:r>
            <a:endParaRPr lang="en-US" sz="900"/>
          </a:p>
        </p:txBody>
      </p:sp>
      <p:sp>
        <p:nvSpPr>
          <p:cNvPr id="20" name="Text 16"/>
          <p:cNvSpPr/>
          <p:nvPr/>
        </p:nvSpPr>
        <p:spPr>
          <a:xfrm>
            <a:off x="457200" y="44074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Next Gen QA @ Wipro   - BY BHAVANA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1157</Words>
  <Application>Microsoft Office PowerPoint</Application>
  <PresentationFormat>On-screen Show (16:9)</PresentationFormat>
  <Paragraphs>280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DemoBlaze E-Commerce Website Automation Testing using Selenium with Python</dc:title>
  <dc:subject>PptxGenJS Presentation</dc:subject>
  <dc:creator>Next Gen QA</dc:creator>
  <cp:lastModifiedBy>KALYANI REDDY</cp:lastModifiedBy>
  <cp:revision>9</cp:revision>
  <dcterms:created xsi:type="dcterms:W3CDTF">2026-05-22T06:52:56Z</dcterms:created>
  <dcterms:modified xsi:type="dcterms:W3CDTF">2026-05-23T11:07:41Z</dcterms:modified>
</cp:coreProperties>
</file>